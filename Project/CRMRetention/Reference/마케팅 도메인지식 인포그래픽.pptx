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1" r:id="rId2"/>
    <p:sldId id="256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8FC"/>
    <a:srgbClr val="97C6F1"/>
    <a:srgbClr val="98C8F1"/>
    <a:srgbClr val="FFFFFF"/>
    <a:srgbClr val="CBAFE2"/>
    <a:srgbClr val="90D5D3"/>
    <a:srgbClr val="F8C389"/>
    <a:srgbClr val="FFF2CC"/>
    <a:srgbClr val="FEFFC3"/>
    <a:srgbClr val="F8C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094" autoAdjust="0"/>
  </p:normalViewPr>
  <p:slideViewPr>
    <p:cSldViewPr snapToGrid="0">
      <p:cViewPr varScale="1">
        <p:scale>
          <a:sx n="157" d="100"/>
          <a:sy n="157" d="100"/>
        </p:scale>
        <p:origin x="4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4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0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30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08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9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9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32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8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889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1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D16F6-A6DC-4F14-98B6-E9C0BF3DA88A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DD2BF-5F01-4258-843F-7926EE4D14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1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676A-2800-088D-DA9D-781EF468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8B342C9E-4F16-8873-C1B2-6A9835CC7B16}"/>
              </a:ext>
            </a:extLst>
          </p:cNvPr>
          <p:cNvSpPr/>
          <p:nvPr/>
        </p:nvSpPr>
        <p:spPr>
          <a:xfrm>
            <a:off x="1845430" y="3465656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b="1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B9E49BA6-8343-EB7A-2E95-9C02122E0D0D}"/>
              </a:ext>
            </a:extLst>
          </p:cNvPr>
          <p:cNvSpPr/>
          <p:nvPr/>
        </p:nvSpPr>
        <p:spPr>
          <a:xfrm>
            <a:off x="1842347" y="2998467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메시지 전송 및 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반응 로그</a:t>
            </a: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(Interaction Logs)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CBB56A99-8331-43C5-111C-5AD6A5C536BB}"/>
              </a:ext>
            </a:extLst>
          </p:cNvPr>
          <p:cNvSpPr/>
          <p:nvPr/>
        </p:nvSpPr>
        <p:spPr>
          <a:xfrm>
            <a:off x="1842347" y="2525995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캠페인 정보</a:t>
            </a:r>
            <a:endParaRPr lang="ko-KR" altLang="en-US" sz="677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b="1" dirty="0">
                <a:solidFill>
                  <a:schemeClr val="tx1"/>
                </a:solidFill>
              </a:rPr>
              <a:t>(</a:t>
            </a:r>
            <a:r>
              <a:rPr lang="en-US" altLang="ko-KR" sz="677" b="1">
                <a:solidFill>
                  <a:schemeClr val="tx1"/>
                </a:solidFill>
              </a:rPr>
              <a:t>Campaign Data</a:t>
            </a:r>
            <a:r>
              <a:rPr lang="en-US" altLang="ko-KR" sz="677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107E4E4A-55A2-F2EE-1FEA-BF843B529805}"/>
              </a:ext>
            </a:extLst>
          </p:cNvPr>
          <p:cNvSpPr/>
          <p:nvPr/>
        </p:nvSpPr>
        <p:spPr>
          <a:xfrm>
            <a:off x="1842348" y="2058806"/>
            <a:ext cx="937130" cy="586762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ko-KR" altLang="en-US" sz="677" b="1">
                <a:solidFill>
                  <a:schemeClr val="tx1"/>
                </a:solidFill>
              </a:rPr>
              <a:t>고객 속성</a:t>
            </a:r>
            <a:endParaRPr lang="en-US" altLang="ko-KR" sz="677" b="1">
              <a:solidFill>
                <a:schemeClr val="tx1"/>
              </a:solidFill>
            </a:endParaRPr>
          </a:p>
          <a:p>
            <a:pPr algn="ctr"/>
            <a:r>
              <a:rPr lang="en-US" altLang="ko-KR" sz="677" b="1">
                <a:solidFill>
                  <a:schemeClr val="tx1"/>
                </a:solidFill>
              </a:rPr>
              <a:t>(Customer Attributes)</a:t>
            </a:r>
            <a:endParaRPr lang="en-US" altLang="ko-KR" sz="677" b="1" dirty="0">
              <a:solidFill>
                <a:schemeClr val="tx1"/>
              </a:solidFill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BF480222-79B9-A0AA-A6C8-6FA7CB29232A}"/>
              </a:ext>
            </a:extLst>
          </p:cNvPr>
          <p:cNvSpPr txBox="1"/>
          <p:nvPr/>
        </p:nvSpPr>
        <p:spPr>
          <a:xfrm>
            <a:off x="1774340" y="1756574"/>
            <a:ext cx="1075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원본 데이터 통합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0A9319DE-8F57-1264-99C5-44EB714AB070}"/>
              </a:ext>
            </a:extLst>
          </p:cNvPr>
          <p:cNvSpPr/>
          <p:nvPr/>
        </p:nvSpPr>
        <p:spPr>
          <a:xfrm>
            <a:off x="1724551" y="1684534"/>
            <a:ext cx="1172398" cy="2514978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6C5611-F805-78DE-4ADE-AD3E687D5EA8}"/>
              </a:ext>
            </a:extLst>
          </p:cNvPr>
          <p:cNvSpPr txBox="1"/>
          <p:nvPr/>
        </p:nvSpPr>
        <p:spPr>
          <a:xfrm>
            <a:off x="3105589" y="1186732"/>
            <a:ext cx="25585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베이스라인 및 핵심 마케팅 지식 전처리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B57807B7-B15A-8EC8-17C4-6172A0706B94}"/>
              </a:ext>
            </a:extLst>
          </p:cNvPr>
          <p:cNvGrpSpPr/>
          <p:nvPr/>
        </p:nvGrpSpPr>
        <p:grpSpPr>
          <a:xfrm>
            <a:off x="3455120" y="2214574"/>
            <a:ext cx="1800000" cy="2321739"/>
            <a:chOff x="1419536" y="2144724"/>
            <a:chExt cx="1800000" cy="2321739"/>
          </a:xfrm>
        </p:grpSpPr>
        <p:pic>
          <p:nvPicPr>
            <p:cNvPr id="61" name="그림 60" descr="텍스트, 스크린샷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8DCB89-6D7A-DCD4-7BEA-D6F1AAC43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9536" y="2144724"/>
              <a:ext cx="1800000" cy="2321739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40FA35-CC12-C5CF-05AA-0F228098E77A}"/>
                </a:ext>
              </a:extLst>
            </p:cNvPr>
            <p:cNvSpPr txBox="1"/>
            <p:nvPr/>
          </p:nvSpPr>
          <p:spPr>
            <a:xfrm>
              <a:off x="2079022" y="2260628"/>
              <a:ext cx="1137339" cy="415498"/>
            </a:xfrm>
            <a:prstGeom prst="rect">
              <a:avLst/>
            </a:prstGeom>
            <a:solidFill>
              <a:srgbClr val="F8C389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구매 및 재구매 주기 패턴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고객별 소비 리듬과 구매 후  심리적 냉각기를 계산하여 재구매 임박 시점을 포착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E6CD0A7D-1680-18E1-9097-BDAA5F38B209}"/>
                </a:ext>
              </a:extLst>
            </p:cNvPr>
            <p:cNvSpPr txBox="1"/>
            <p:nvPr/>
          </p:nvSpPr>
          <p:spPr>
            <a:xfrm>
              <a:off x="2079022" y="2806964"/>
              <a:ext cx="1137339" cy="415498"/>
            </a:xfrm>
            <a:prstGeom prst="rect">
              <a:avLst/>
            </a:prstGeom>
            <a:solidFill>
              <a:srgbClr val="90D5D3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마케팅 피로도 및 상호작용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채널별 망각 속도와 누적 노출량을 모델링하여 고객의 피로도를 반영하고 인지적 과부하를 방지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C20F1649-13F0-98DB-7FA5-83C319EDCDCE}"/>
                </a:ext>
              </a:extLst>
            </p:cNvPr>
            <p:cNvSpPr txBox="1"/>
            <p:nvPr/>
          </p:nvSpPr>
          <p:spPr>
            <a:xfrm>
              <a:off x="2079022" y="3364178"/>
              <a:ext cx="1137339" cy="415498"/>
            </a:xfrm>
            <a:prstGeom prst="rect">
              <a:avLst/>
            </a:prstGeom>
            <a:solidFill>
              <a:srgbClr val="CBAFE2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시계열 메시지 반응도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고객의 반응 현황을 벡터화하여 고객의 소비 선호 패턴 기반 최적시점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D6808476-16BE-6AFF-833F-3B809C428F7B}"/>
                </a:ext>
              </a:extLst>
            </p:cNvPr>
            <p:cNvSpPr txBox="1"/>
            <p:nvPr/>
          </p:nvSpPr>
          <p:spPr>
            <a:xfrm>
              <a:off x="2079022" y="3933062"/>
              <a:ext cx="1137339" cy="415498"/>
            </a:xfrm>
            <a:prstGeom prst="rect">
              <a:avLst/>
            </a:prstGeom>
            <a:solidFill>
              <a:srgbClr val="98C8F1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마케팅 채널 효과성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과거 구매자들의 채널 경로를 모델링하여 채널별 구조적 유사성을 기반으로 최적 채널 결정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1" name="그룹 460">
            <a:extLst>
              <a:ext uri="{FF2B5EF4-FFF2-40B4-BE49-F238E27FC236}">
                <a16:creationId xmlns:a16="http://schemas.microsoft.com/office/drawing/2014/main" id="{B0425E87-8118-00FF-FF87-A3D1F561733E}"/>
              </a:ext>
            </a:extLst>
          </p:cNvPr>
          <p:cNvGrpSpPr/>
          <p:nvPr/>
        </p:nvGrpSpPr>
        <p:grpSpPr>
          <a:xfrm>
            <a:off x="3451945" y="1550760"/>
            <a:ext cx="1800000" cy="623715"/>
            <a:chOff x="1416361" y="1519010"/>
            <a:chExt cx="1800000" cy="623715"/>
          </a:xfrm>
        </p:grpSpPr>
        <p:pic>
          <p:nvPicPr>
            <p:cNvPr id="454" name="그림 453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C786DC-3885-0D3D-8EAC-5FA8A9A3A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361" y="1519010"/>
              <a:ext cx="1800000" cy="623715"/>
            </a:xfrm>
            <a:prstGeom prst="rect">
              <a:avLst/>
            </a:prstGeom>
          </p:spPr>
        </p:pic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74AEB944-A75F-2B42-6526-74229F697953}"/>
                </a:ext>
              </a:extLst>
            </p:cNvPr>
            <p:cNvSpPr txBox="1"/>
            <p:nvPr/>
          </p:nvSpPr>
          <p:spPr>
            <a:xfrm>
              <a:off x="2079022" y="1652784"/>
              <a:ext cx="1137339" cy="338554"/>
            </a:xfrm>
            <a:prstGeom prst="rect">
              <a:avLst/>
            </a:prstGeom>
            <a:solidFill>
              <a:srgbClr val="97C6F1"/>
            </a:solidFill>
          </p:spPr>
          <p:txBody>
            <a:bodyPr wrap="square">
              <a:spAutoFit/>
            </a:bodyPr>
            <a:lstStyle/>
            <a:p>
              <a:r>
                <a:rPr lang="ko-KR" altLang="en-US" sz="600" b="1">
                  <a:solidFill>
                    <a:schemeClr val="tx1"/>
                  </a:solidFill>
                </a:rPr>
                <a:t>베이스라인</a:t>
              </a:r>
              <a:endParaRPr lang="en-US" altLang="ko-KR" sz="600" b="1">
                <a:solidFill>
                  <a:schemeClr val="tx1"/>
                </a:solidFill>
              </a:endParaRPr>
            </a:p>
            <a:p>
              <a:r>
                <a:rPr lang="ko-KR" altLang="en-US" sz="500"/>
                <a:t>고객 속성 </a:t>
              </a:r>
              <a:r>
                <a:rPr lang="en-US" altLang="ko-KR" sz="500"/>
                <a:t>+ </a:t>
              </a:r>
              <a:r>
                <a:rPr lang="ko-KR" altLang="en-US" sz="500"/>
                <a:t>캠페인 정보 </a:t>
              </a:r>
              <a:r>
                <a:rPr lang="en-US" altLang="ko-KR" sz="500"/>
                <a:t>+ </a:t>
              </a:r>
              <a:r>
                <a:rPr lang="ko-KR" altLang="en-US" sz="500"/>
                <a:t>메시지 전공 및 반응 로그 </a:t>
              </a:r>
              <a:r>
                <a:rPr lang="en-US" altLang="ko-KR" sz="500"/>
                <a:t>+ </a:t>
              </a:r>
              <a:r>
                <a:rPr lang="ko-KR" altLang="en-US" sz="500"/>
                <a:t>외부 시점 정보</a:t>
              </a:r>
              <a:endParaRPr lang="en-US" altLang="ko-KR" sz="500" dirty="0">
                <a:solidFill>
                  <a:schemeClr val="tx1"/>
                </a:solidFill>
              </a:endParaRPr>
            </a:p>
          </p:txBody>
        </p:sp>
      </p:grpSp>
      <p:sp>
        <p:nvSpPr>
          <p:cNvPr id="463" name="순서도: 처리 462">
            <a:extLst>
              <a:ext uri="{FF2B5EF4-FFF2-40B4-BE49-F238E27FC236}">
                <a16:creationId xmlns:a16="http://schemas.microsoft.com/office/drawing/2014/main" id="{909A372A-62F6-C5AB-2F48-1AB99CBF4790}"/>
              </a:ext>
            </a:extLst>
          </p:cNvPr>
          <p:cNvSpPr/>
          <p:nvPr/>
        </p:nvSpPr>
        <p:spPr>
          <a:xfrm>
            <a:off x="3135726" y="1116702"/>
            <a:ext cx="2497794" cy="3648230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65" name="사각형: 둥근 모서리 464">
            <a:extLst>
              <a:ext uri="{FF2B5EF4-FFF2-40B4-BE49-F238E27FC236}">
                <a16:creationId xmlns:a16="http://schemas.microsoft.com/office/drawing/2014/main" id="{BF0D1176-0B9B-CADD-DF31-352CE06C62C2}"/>
              </a:ext>
            </a:extLst>
          </p:cNvPr>
          <p:cNvSpPr/>
          <p:nvPr/>
        </p:nvSpPr>
        <p:spPr>
          <a:xfrm>
            <a:off x="3330984" y="1475722"/>
            <a:ext cx="2082800" cy="3102628"/>
          </a:xfrm>
          <a:prstGeom prst="round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83C369C1-F915-F179-D445-482AF3CC3C10}"/>
              </a:ext>
            </a:extLst>
          </p:cNvPr>
          <p:cNvSpPr txBox="1"/>
          <p:nvPr/>
        </p:nvSpPr>
        <p:spPr>
          <a:xfrm>
            <a:off x="7276973" y="937432"/>
            <a:ext cx="29280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b="1">
                <a:solidFill>
                  <a:srgbClr val="002060"/>
                </a:solidFill>
              </a:rPr>
              <a:t>[</a:t>
            </a:r>
            <a:r>
              <a:rPr lang="ko-KR" altLang="en-US" sz="900" b="1">
                <a:solidFill>
                  <a:srgbClr val="002060"/>
                </a:solidFill>
              </a:rPr>
              <a:t>대조군 실험 기반 </a:t>
            </a:r>
            <a:r>
              <a:rPr lang="en-US" altLang="ko-KR" sz="900" b="1">
                <a:solidFill>
                  <a:srgbClr val="002060"/>
                </a:solidFill>
              </a:rPr>
              <a:t>(1) </a:t>
            </a:r>
            <a:r>
              <a:rPr lang="ko-KR" altLang="en-US" sz="900" b="1">
                <a:solidFill>
                  <a:srgbClr val="002060"/>
                </a:solidFill>
              </a:rPr>
              <a:t>성능 평가</a:t>
            </a:r>
            <a:r>
              <a:rPr lang="en-US" altLang="ko-KR" sz="900" b="1">
                <a:solidFill>
                  <a:srgbClr val="002060"/>
                </a:solidFill>
                <a:sym typeface="Wingdings" panose="05000000000000000000" pitchFamily="2" charset="2"/>
              </a:rPr>
              <a:t> (2)</a:t>
            </a:r>
            <a:r>
              <a:rPr lang="ko-KR" altLang="en-US" sz="900" b="1">
                <a:solidFill>
                  <a:srgbClr val="002060"/>
                </a:solidFill>
              </a:rPr>
              <a:t> 지식 기여도 검증</a:t>
            </a:r>
            <a:r>
              <a:rPr lang="en-US" altLang="ko-KR" sz="900" b="1">
                <a:solidFill>
                  <a:srgbClr val="002060"/>
                </a:solidFill>
              </a:rPr>
              <a:t>]</a:t>
            </a:r>
            <a:endParaRPr lang="ko-KR" altLang="en-US" sz="900" b="1" dirty="0">
              <a:solidFill>
                <a:srgbClr val="002060"/>
              </a:solidFill>
            </a:endParaRPr>
          </a:p>
        </p:txBody>
      </p:sp>
      <p:sp>
        <p:nvSpPr>
          <p:cNvPr id="490" name="순서도: 다중 문서 489">
            <a:extLst>
              <a:ext uri="{FF2B5EF4-FFF2-40B4-BE49-F238E27FC236}">
                <a16:creationId xmlns:a16="http://schemas.microsoft.com/office/drawing/2014/main" id="{981BE6AA-C03D-F97D-F688-5F88AC2ACF1A}"/>
              </a:ext>
            </a:extLst>
          </p:cNvPr>
          <p:cNvSpPr/>
          <p:nvPr/>
        </p:nvSpPr>
        <p:spPr>
          <a:xfrm>
            <a:off x="5747044" y="2446686"/>
            <a:ext cx="1432222" cy="882011"/>
          </a:xfrm>
          <a:prstGeom prst="flowChartMultidocument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8</a:t>
            </a:r>
            <a:r>
              <a:rPr lang="ko-KR" altLang="en-US" sz="800" b="1">
                <a:solidFill>
                  <a:schemeClr val="tx1"/>
                </a:solidFill>
              </a:rPr>
              <a:t>종 모델링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RF,</a:t>
            </a:r>
            <a:r>
              <a:rPr lang="en-US" altLang="ko-KR" sz="800">
                <a:solidFill>
                  <a:schemeClr val="tx1"/>
                </a:solidFill>
              </a:rPr>
              <a:t>XGB,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</a:rPr>
              <a:t>MLP, RNN</a:t>
            </a:r>
            <a:r>
              <a:rPr lang="en-US" altLang="ko-KR" sz="800" dirty="0">
                <a:solidFill>
                  <a:schemeClr val="tx1"/>
                </a:solidFill>
              </a:rPr>
              <a:t>, CNN, LSTM,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RNN-LSTM</a:t>
            </a:r>
            <a:r>
              <a:rPr lang="en-US" altLang="ko-KR" sz="800">
                <a:solidFill>
                  <a:schemeClr val="tx1"/>
                </a:solidFill>
              </a:rPr>
              <a:t>, CNN-LSTM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491" name="연결선: 꺾임 490">
            <a:extLst>
              <a:ext uri="{FF2B5EF4-FFF2-40B4-BE49-F238E27FC236}">
                <a16:creationId xmlns:a16="http://schemas.microsoft.com/office/drawing/2014/main" id="{48CD7D90-8F83-BF07-8A05-73B3F46710BA}"/>
              </a:ext>
            </a:extLst>
          </p:cNvPr>
          <p:cNvCxnSpPr>
            <a:cxnSpLocks/>
            <a:stCxn id="455" idx="3"/>
            <a:endCxn id="490" idx="0"/>
          </p:cNvCxnSpPr>
          <p:nvPr/>
        </p:nvCxnSpPr>
        <p:spPr>
          <a:xfrm>
            <a:off x="5251945" y="1853811"/>
            <a:ext cx="1309742" cy="592875"/>
          </a:xfrm>
          <a:prstGeom prst="bentConnector2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연결선: 꺾임 497">
            <a:extLst>
              <a:ext uri="{FF2B5EF4-FFF2-40B4-BE49-F238E27FC236}">
                <a16:creationId xmlns:a16="http://schemas.microsoft.com/office/drawing/2014/main" id="{359BD1D6-6FFF-6FFF-6CAA-E0BA41E37B47}"/>
              </a:ext>
            </a:extLst>
          </p:cNvPr>
          <p:cNvCxnSpPr>
            <a:cxnSpLocks/>
            <a:stCxn id="465" idx="2"/>
            <a:endCxn id="490" idx="2"/>
          </p:cNvCxnSpPr>
          <p:nvPr/>
        </p:nvCxnSpPr>
        <p:spPr>
          <a:xfrm rot="5400000" flipH="1" flipV="1">
            <a:off x="4726445" y="2941233"/>
            <a:ext cx="1283055" cy="1991179"/>
          </a:xfrm>
          <a:prstGeom prst="bentConnector3">
            <a:avLst>
              <a:gd name="adj1" fmla="val -29485"/>
            </a:avLst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직선 화살표 연결선 499">
            <a:extLst>
              <a:ext uri="{FF2B5EF4-FFF2-40B4-BE49-F238E27FC236}">
                <a16:creationId xmlns:a16="http://schemas.microsoft.com/office/drawing/2014/main" id="{47587E71-CD03-1CF4-1515-B9EF0D6CF9C0}"/>
              </a:ext>
            </a:extLst>
          </p:cNvPr>
          <p:cNvCxnSpPr>
            <a:cxnSpLocks/>
            <a:stCxn id="48" idx="3"/>
            <a:endCxn id="463" idx="1"/>
          </p:cNvCxnSpPr>
          <p:nvPr/>
        </p:nvCxnSpPr>
        <p:spPr>
          <a:xfrm flipV="1">
            <a:off x="2896949" y="2940817"/>
            <a:ext cx="238777" cy="120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6" name="그림 85" descr="지도, 도표, 텍스트이(가) 표시된 사진">
            <a:extLst>
              <a:ext uri="{FF2B5EF4-FFF2-40B4-BE49-F238E27FC236}">
                <a16:creationId xmlns:a16="http://schemas.microsoft.com/office/drawing/2014/main" id="{E1D66207-0966-B769-DDC8-6FD15EF6A2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820" y="1609222"/>
            <a:ext cx="1949670" cy="1050437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8151A93-CAA2-9DA9-5D1C-54A7EB861EDF}"/>
              </a:ext>
            </a:extLst>
          </p:cNvPr>
          <p:cNvSpPr/>
          <p:nvPr/>
        </p:nvSpPr>
        <p:spPr>
          <a:xfrm>
            <a:off x="7771802" y="1240395"/>
            <a:ext cx="1960688" cy="286209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8</a:t>
            </a:r>
            <a:r>
              <a:rPr lang="ko-KR" altLang="en-US" sz="800" b="1">
                <a:solidFill>
                  <a:schemeClr val="tx1"/>
                </a:solidFill>
              </a:rPr>
              <a:t>종 모델의 성능 및 지식 기여도 평가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600" err="1">
                <a:solidFill>
                  <a:schemeClr val="tx1"/>
                </a:solidFill>
              </a:rPr>
              <a:t>Accuracy</a:t>
            </a:r>
            <a:r>
              <a:rPr lang="en-US" altLang="ko-KR" sz="600">
                <a:solidFill>
                  <a:schemeClr val="tx1"/>
                </a:solidFill>
              </a:rPr>
              <a:t>, AUC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AA71906-E444-2722-86D7-F4433821B2DB}"/>
              </a:ext>
            </a:extLst>
          </p:cNvPr>
          <p:cNvSpPr/>
          <p:nvPr/>
        </p:nvSpPr>
        <p:spPr>
          <a:xfrm>
            <a:off x="7771801" y="2742277"/>
            <a:ext cx="1960689" cy="288000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설명가능한 인공지능</a:t>
            </a:r>
            <a:r>
              <a:rPr lang="en-US" altLang="ko-KR" sz="800" b="1">
                <a:solidFill>
                  <a:schemeClr val="tx1"/>
                </a:solidFill>
              </a:rPr>
              <a:t>(XAI) </a:t>
            </a:r>
            <a:r>
              <a:rPr lang="ko-KR" altLang="en-US" sz="800" b="1">
                <a:solidFill>
                  <a:schemeClr val="tx1"/>
                </a:solidFill>
              </a:rPr>
              <a:t>기반</a:t>
            </a:r>
            <a:endParaRPr lang="en-US" altLang="ko-KR" sz="800" b="1">
              <a:solidFill>
                <a:schemeClr val="tx1"/>
              </a:solidFill>
            </a:endParaRPr>
          </a:p>
          <a:p>
            <a:pPr algn="ctr"/>
            <a:r>
              <a:rPr lang="ko-KR" altLang="en-US" sz="800" b="1">
                <a:solidFill>
                  <a:schemeClr val="tx1"/>
                </a:solidFill>
              </a:rPr>
              <a:t> 지식 기여도 평가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pic>
        <p:nvPicPr>
          <p:cNvPr id="92" name="그림 9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A0B791-9109-C249-67EB-8A4BB0D59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610" y="3052356"/>
            <a:ext cx="1881070" cy="2304571"/>
          </a:xfrm>
          <a:prstGeom prst="rect">
            <a:avLst/>
          </a:prstGeom>
        </p:spPr>
      </p:pic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01639982-FF3A-3D3C-5669-671810EB1B59}"/>
              </a:ext>
            </a:extLst>
          </p:cNvPr>
          <p:cNvCxnSpPr>
            <a:cxnSpLocks/>
            <a:stCxn id="63" idx="3"/>
            <a:endCxn id="490" idx="0"/>
          </p:cNvCxnSpPr>
          <p:nvPr/>
        </p:nvCxnSpPr>
        <p:spPr>
          <a:xfrm flipV="1">
            <a:off x="5251945" y="2446686"/>
            <a:ext cx="1309742" cy="91541"/>
          </a:xfrm>
          <a:prstGeom prst="bentConnector4">
            <a:avLst>
              <a:gd name="adj1" fmla="val 18901"/>
              <a:gd name="adj2" fmla="val 746284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D4983F45-798C-666D-2765-E74B336E07C3}"/>
              </a:ext>
            </a:extLst>
          </p:cNvPr>
          <p:cNvCxnSpPr>
            <a:cxnSpLocks/>
            <a:stCxn id="448" idx="3"/>
            <a:endCxn id="490" idx="0"/>
          </p:cNvCxnSpPr>
          <p:nvPr/>
        </p:nvCxnSpPr>
        <p:spPr>
          <a:xfrm flipV="1">
            <a:off x="5251945" y="2446686"/>
            <a:ext cx="1309742" cy="637877"/>
          </a:xfrm>
          <a:prstGeom prst="bentConnector4">
            <a:avLst>
              <a:gd name="adj1" fmla="val 18901"/>
              <a:gd name="adj2" fmla="val 192290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704C5F76-FB70-D5F0-FD42-512E4CE907F5}"/>
              </a:ext>
            </a:extLst>
          </p:cNvPr>
          <p:cNvCxnSpPr>
            <a:cxnSpLocks/>
            <a:stCxn id="451" idx="3"/>
            <a:endCxn id="490" idx="0"/>
          </p:cNvCxnSpPr>
          <p:nvPr/>
        </p:nvCxnSpPr>
        <p:spPr>
          <a:xfrm flipV="1">
            <a:off x="5251945" y="2446686"/>
            <a:ext cx="1309742" cy="1195091"/>
          </a:xfrm>
          <a:prstGeom prst="bentConnector4">
            <a:avLst>
              <a:gd name="adj1" fmla="val 18901"/>
              <a:gd name="adj2" fmla="val 149598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48B10508-7C29-6CE3-9847-A93404C2A34F}"/>
              </a:ext>
            </a:extLst>
          </p:cNvPr>
          <p:cNvCxnSpPr>
            <a:cxnSpLocks/>
            <a:stCxn id="452" idx="3"/>
            <a:endCxn id="490" idx="0"/>
          </p:cNvCxnSpPr>
          <p:nvPr/>
        </p:nvCxnSpPr>
        <p:spPr>
          <a:xfrm flipV="1">
            <a:off x="5251945" y="2446686"/>
            <a:ext cx="1309742" cy="1763975"/>
          </a:xfrm>
          <a:prstGeom prst="bentConnector4">
            <a:avLst>
              <a:gd name="adj1" fmla="val 18901"/>
              <a:gd name="adj2" fmla="val 133602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연결선: 꺾임 199">
            <a:extLst>
              <a:ext uri="{FF2B5EF4-FFF2-40B4-BE49-F238E27FC236}">
                <a16:creationId xmlns:a16="http://schemas.microsoft.com/office/drawing/2014/main" id="{B2FD0653-4F52-EEA8-33B9-57681E258EE4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7350995" y="1383500"/>
            <a:ext cx="420807" cy="1504192"/>
          </a:xfrm>
          <a:prstGeom prst="bentConnector3">
            <a:avLst>
              <a:gd name="adj1" fmla="val 15387"/>
            </a:avLst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48F9668D-D86D-556E-7B54-1BD17495F96C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7350995" y="1383500"/>
            <a:ext cx="420807" cy="1504192"/>
          </a:xfrm>
          <a:prstGeom prst="bentConnector3">
            <a:avLst>
              <a:gd name="adj1" fmla="val 51923"/>
            </a:avLst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순서도: 처리 212">
            <a:extLst>
              <a:ext uri="{FF2B5EF4-FFF2-40B4-BE49-F238E27FC236}">
                <a16:creationId xmlns:a16="http://schemas.microsoft.com/office/drawing/2014/main" id="{E9470F1B-1DD3-0CE7-09F9-E2321F44582F}"/>
              </a:ext>
            </a:extLst>
          </p:cNvPr>
          <p:cNvSpPr/>
          <p:nvPr/>
        </p:nvSpPr>
        <p:spPr>
          <a:xfrm>
            <a:off x="7294171" y="865300"/>
            <a:ext cx="2893702" cy="4611285"/>
          </a:xfrm>
          <a:prstGeom prst="flowChartProcess">
            <a:avLst/>
          </a:prstGeom>
          <a:noFill/>
          <a:ln w="31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24250935-D30E-B96D-D07E-883DCDF88183}"/>
              </a:ext>
            </a:extLst>
          </p:cNvPr>
          <p:cNvCxnSpPr>
            <a:cxnSpLocks/>
            <a:stCxn id="490" idx="3"/>
            <a:endCxn id="91" idx="1"/>
          </p:cNvCxnSpPr>
          <p:nvPr/>
        </p:nvCxnSpPr>
        <p:spPr>
          <a:xfrm flipV="1">
            <a:off x="7179266" y="2886277"/>
            <a:ext cx="592535" cy="1415"/>
          </a:xfrm>
          <a:prstGeom prst="straightConnector1">
            <a:avLst/>
          </a:prstGeom>
          <a:ln w="1270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262A2C-C951-E561-3004-B2872A3FEE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077" t="30950" r="31916" b="29853"/>
          <a:stretch>
            <a:fillRect/>
          </a:stretch>
        </p:blipFill>
        <p:spPr>
          <a:xfrm>
            <a:off x="3645364" y="1720159"/>
            <a:ext cx="270000" cy="27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1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6D4C801D-2203-6103-BAB1-37243B1FB15E}"/>
              </a:ext>
            </a:extLst>
          </p:cNvPr>
          <p:cNvSpPr/>
          <p:nvPr/>
        </p:nvSpPr>
        <p:spPr>
          <a:xfrm>
            <a:off x="521539" y="1176536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4B7F9A65-791F-5338-1607-72BA4A062E57}"/>
              </a:ext>
            </a:extLst>
          </p:cNvPr>
          <p:cNvSpPr/>
          <p:nvPr/>
        </p:nvSpPr>
        <p:spPr>
          <a:xfrm>
            <a:off x="658416" y="14270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3752F58C-D9D2-673B-3C9A-3E733F927649}"/>
              </a:ext>
            </a:extLst>
          </p:cNvPr>
          <p:cNvSpPr/>
          <p:nvPr/>
        </p:nvSpPr>
        <p:spPr>
          <a:xfrm>
            <a:off x="658416" y="2160758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AE4984A2-9CAA-732B-F653-9AF4FE84D721}"/>
              </a:ext>
            </a:extLst>
          </p:cNvPr>
          <p:cNvSpPr/>
          <p:nvPr/>
        </p:nvSpPr>
        <p:spPr>
          <a:xfrm>
            <a:off x="658416" y="2894490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 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6E87DD2F-6289-2156-79BA-DB5BA8EE1BB7}"/>
              </a:ext>
            </a:extLst>
          </p:cNvPr>
          <p:cNvSpPr/>
          <p:nvPr/>
        </p:nvSpPr>
        <p:spPr>
          <a:xfrm>
            <a:off x="676853" y="362821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206574-A226-8EBC-67FE-52BC49F025DC}"/>
              </a:ext>
            </a:extLst>
          </p:cNvPr>
          <p:cNvSpPr/>
          <p:nvPr/>
        </p:nvSpPr>
        <p:spPr>
          <a:xfrm>
            <a:off x="1886223" y="156345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DD14E7E-CCBB-E018-7947-9A4B64612064}"/>
              </a:ext>
            </a:extLst>
          </p:cNvPr>
          <p:cNvSpPr/>
          <p:nvPr/>
        </p:nvSpPr>
        <p:spPr>
          <a:xfrm>
            <a:off x="2288111" y="229718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92B59D3-D0DB-FFAC-9858-3E4CB9E7F707}"/>
              </a:ext>
            </a:extLst>
          </p:cNvPr>
          <p:cNvSpPr/>
          <p:nvPr/>
        </p:nvSpPr>
        <p:spPr>
          <a:xfrm>
            <a:off x="2288111" y="2795864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2B9E003-0CA1-0818-78F6-002E332281A9}"/>
              </a:ext>
            </a:extLst>
          </p:cNvPr>
          <p:cNvSpPr/>
          <p:nvPr/>
        </p:nvSpPr>
        <p:spPr>
          <a:xfrm>
            <a:off x="2288111" y="383470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F41DA69-064F-DFFC-4F96-691D69F4A86B}"/>
              </a:ext>
            </a:extLst>
          </p:cNvPr>
          <p:cNvSpPr/>
          <p:nvPr/>
        </p:nvSpPr>
        <p:spPr>
          <a:xfrm>
            <a:off x="2295478" y="3315281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07BC753-ADA9-48CA-90F9-20FC92891959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484330" y="1762563"/>
            <a:ext cx="401891" cy="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69B96FB-5E36-04F7-5F4B-09F47DC952CD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484329" y="1762554"/>
            <a:ext cx="401891" cy="733734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3D0BE72C-F25E-0085-9D23-BDDD5EB129F6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484329" y="1762547"/>
            <a:ext cx="401891" cy="146746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ABADB0B1-2507-E7E3-7D71-A2911D4D460F}"/>
              </a:ext>
            </a:extLst>
          </p:cNvPr>
          <p:cNvSpPr/>
          <p:nvPr/>
        </p:nvSpPr>
        <p:spPr>
          <a:xfrm>
            <a:off x="3671889" y="2544214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9888FEA-9425-DA54-2234-575E39391BA5}"/>
              </a:ext>
            </a:extLst>
          </p:cNvPr>
          <p:cNvSpPr/>
          <p:nvPr/>
        </p:nvSpPr>
        <p:spPr>
          <a:xfrm>
            <a:off x="3749317" y="1563452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6EA3A68A-BF8F-E114-01CC-15957C119F5C}"/>
              </a:ext>
            </a:extLst>
          </p:cNvPr>
          <p:cNvCxnSpPr>
            <a:stCxn id="16" idx="3"/>
            <a:endCxn id="65" idx="1"/>
          </p:cNvCxnSpPr>
          <p:nvPr/>
        </p:nvCxnSpPr>
        <p:spPr>
          <a:xfrm flipV="1">
            <a:off x="3114026" y="1762554"/>
            <a:ext cx="635298" cy="733734"/>
          </a:xfrm>
          <a:prstGeom prst="bentConnector3">
            <a:avLst>
              <a:gd name="adj1" fmla="val 30053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D8AC2BFF-0584-005E-9DAA-41179A9DBAD0}"/>
              </a:ext>
            </a:extLst>
          </p:cNvPr>
          <p:cNvCxnSpPr>
            <a:stCxn id="17" idx="3"/>
            <a:endCxn id="65" idx="1"/>
          </p:cNvCxnSpPr>
          <p:nvPr/>
        </p:nvCxnSpPr>
        <p:spPr>
          <a:xfrm flipV="1">
            <a:off x="3114026" y="1762549"/>
            <a:ext cx="635298" cy="1232415"/>
          </a:xfrm>
          <a:prstGeom prst="bentConnector3">
            <a:avLst>
              <a:gd name="adj1" fmla="val 3080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B9E340E1-3DDB-CBB2-B966-7E7C6ADF85FB}"/>
              </a:ext>
            </a:extLst>
          </p:cNvPr>
          <p:cNvCxnSpPr>
            <a:stCxn id="19" idx="3"/>
            <a:endCxn id="65" idx="1"/>
          </p:cNvCxnSpPr>
          <p:nvPr/>
        </p:nvCxnSpPr>
        <p:spPr>
          <a:xfrm flipV="1">
            <a:off x="3121397" y="1762545"/>
            <a:ext cx="627931" cy="1751834"/>
          </a:xfrm>
          <a:prstGeom prst="bentConnector3">
            <a:avLst>
              <a:gd name="adj1" fmla="val 30584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26596644-5610-7ADF-6004-3F5DE2D4E5C5}"/>
              </a:ext>
            </a:extLst>
          </p:cNvPr>
          <p:cNvCxnSpPr>
            <a:stCxn id="18" idx="3"/>
            <a:endCxn id="65" idx="1"/>
          </p:cNvCxnSpPr>
          <p:nvPr/>
        </p:nvCxnSpPr>
        <p:spPr>
          <a:xfrm flipV="1">
            <a:off x="3114026" y="1762552"/>
            <a:ext cx="635298" cy="2271252"/>
          </a:xfrm>
          <a:prstGeom prst="bentConnector3">
            <a:avLst>
              <a:gd name="adj1" fmla="val 3200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63BF2A84-7129-3828-BB52-9A8F25CD6077}"/>
              </a:ext>
            </a:extLst>
          </p:cNvPr>
          <p:cNvSpPr/>
          <p:nvPr/>
        </p:nvSpPr>
        <p:spPr>
          <a:xfrm>
            <a:off x="5226733" y="206456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72E9B4BC-9EDF-ADA3-AFB1-EED8ED8EB959}"/>
              </a:ext>
            </a:extLst>
          </p:cNvPr>
          <p:cNvSpPr/>
          <p:nvPr/>
        </p:nvSpPr>
        <p:spPr>
          <a:xfrm>
            <a:off x="5226733" y="3263537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233" name="연결선: 꺾임 232">
            <a:extLst>
              <a:ext uri="{FF2B5EF4-FFF2-40B4-BE49-F238E27FC236}">
                <a16:creationId xmlns:a16="http://schemas.microsoft.com/office/drawing/2014/main" id="{F02F94F6-C44E-D74F-93BD-2BF57F5ADD23}"/>
              </a:ext>
            </a:extLst>
          </p:cNvPr>
          <p:cNvCxnSpPr>
            <a:stCxn id="15" idx="2"/>
            <a:endCxn id="16" idx="1"/>
          </p:cNvCxnSpPr>
          <p:nvPr/>
        </p:nvCxnSpPr>
        <p:spPr>
          <a:xfrm rot="5400000">
            <a:off x="2026332" y="2223433"/>
            <a:ext cx="534631" cy="11066"/>
          </a:xfrm>
          <a:prstGeom prst="bentConnector4">
            <a:avLst>
              <a:gd name="adj1" fmla="val 36896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연결선: 꺾임 235">
            <a:extLst>
              <a:ext uri="{FF2B5EF4-FFF2-40B4-BE49-F238E27FC236}">
                <a16:creationId xmlns:a16="http://schemas.microsoft.com/office/drawing/2014/main" id="{3C6CC033-68C2-24CF-0DF8-99CA9FB1CE73}"/>
              </a:ext>
            </a:extLst>
          </p:cNvPr>
          <p:cNvCxnSpPr>
            <a:cxnSpLocks/>
            <a:stCxn id="15" idx="2"/>
            <a:endCxn id="17" idx="1"/>
          </p:cNvCxnSpPr>
          <p:nvPr/>
        </p:nvCxnSpPr>
        <p:spPr>
          <a:xfrm rot="5400000">
            <a:off x="1776993" y="2472775"/>
            <a:ext cx="1033311" cy="11066"/>
          </a:xfrm>
          <a:prstGeom prst="bentConnector4">
            <a:avLst>
              <a:gd name="adj1" fmla="val 20384"/>
              <a:gd name="adj2" fmla="val 1649515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EF31BE5C-43AE-80DF-2CAD-70AE10AB6A69}"/>
              </a:ext>
            </a:extLst>
          </p:cNvPr>
          <p:cNvCxnSpPr>
            <a:stCxn id="15" idx="2"/>
            <a:endCxn id="19" idx="1"/>
          </p:cNvCxnSpPr>
          <p:nvPr/>
        </p:nvCxnSpPr>
        <p:spPr>
          <a:xfrm rot="5400000">
            <a:off x="1520965" y="2736167"/>
            <a:ext cx="1552731" cy="3702"/>
          </a:xfrm>
          <a:prstGeom prst="bentConnector4">
            <a:avLst>
              <a:gd name="adj1" fmla="val 13194"/>
              <a:gd name="adj2" fmla="val 5135801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연결선: 꺾임 244">
            <a:extLst>
              <a:ext uri="{FF2B5EF4-FFF2-40B4-BE49-F238E27FC236}">
                <a16:creationId xmlns:a16="http://schemas.microsoft.com/office/drawing/2014/main" id="{E7A2D301-A179-F41A-2718-A6466ECB33C2}"/>
              </a:ext>
            </a:extLst>
          </p:cNvPr>
          <p:cNvCxnSpPr>
            <a:stCxn id="15" idx="2"/>
            <a:endCxn id="18" idx="1"/>
          </p:cNvCxnSpPr>
          <p:nvPr/>
        </p:nvCxnSpPr>
        <p:spPr>
          <a:xfrm rot="5400000">
            <a:off x="1257568" y="2992192"/>
            <a:ext cx="2072149" cy="11066"/>
          </a:xfrm>
          <a:prstGeom prst="bentConnector4">
            <a:avLst>
              <a:gd name="adj1" fmla="val 9609"/>
              <a:gd name="adj2" fmla="val 171615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E3CBAE65-F8C3-5867-1F18-9DB0983A9D8E}"/>
              </a:ext>
            </a:extLst>
          </p:cNvPr>
          <p:cNvCxnSpPr>
            <a:stCxn id="15" idx="3"/>
            <a:endCxn id="65" idx="1"/>
          </p:cNvCxnSpPr>
          <p:nvPr/>
        </p:nvCxnSpPr>
        <p:spPr>
          <a:xfrm>
            <a:off x="2712136" y="1762536"/>
            <a:ext cx="1037189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연결선: 꺾임 300">
            <a:extLst>
              <a:ext uri="{FF2B5EF4-FFF2-40B4-BE49-F238E27FC236}">
                <a16:creationId xmlns:a16="http://schemas.microsoft.com/office/drawing/2014/main" id="{BF7B5244-6A58-C6ED-6BF0-140E9205F0A5}"/>
              </a:ext>
            </a:extLst>
          </p:cNvPr>
          <p:cNvCxnSpPr>
            <a:stCxn id="64" idx="3"/>
            <a:endCxn id="190" idx="1"/>
          </p:cNvCxnSpPr>
          <p:nvPr/>
        </p:nvCxnSpPr>
        <p:spPr>
          <a:xfrm flipV="1">
            <a:off x="4652661" y="2263664"/>
            <a:ext cx="574076" cy="6308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연결선: 꺾임 302">
            <a:extLst>
              <a:ext uri="{FF2B5EF4-FFF2-40B4-BE49-F238E27FC236}">
                <a16:creationId xmlns:a16="http://schemas.microsoft.com/office/drawing/2014/main" id="{23B418D5-C106-F537-64FD-3B551309915B}"/>
              </a:ext>
            </a:extLst>
          </p:cNvPr>
          <p:cNvCxnSpPr>
            <a:stCxn id="64" idx="3"/>
            <a:endCxn id="191" idx="1"/>
          </p:cNvCxnSpPr>
          <p:nvPr/>
        </p:nvCxnSpPr>
        <p:spPr>
          <a:xfrm>
            <a:off x="4652661" y="2894489"/>
            <a:ext cx="574076" cy="56814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사각형: 둥근 모서리 324">
            <a:extLst>
              <a:ext uri="{FF2B5EF4-FFF2-40B4-BE49-F238E27FC236}">
                <a16:creationId xmlns:a16="http://schemas.microsoft.com/office/drawing/2014/main" id="{4CCD6EFB-A210-CC90-8E70-639021828C3B}"/>
              </a:ext>
            </a:extLst>
          </p:cNvPr>
          <p:cNvSpPr/>
          <p:nvPr/>
        </p:nvSpPr>
        <p:spPr>
          <a:xfrm>
            <a:off x="5948468" y="2664050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최적 성능 모델 선정</a:t>
            </a:r>
            <a:r>
              <a:rPr lang="en-US" altLang="ko-KR" sz="526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25D60701-4A09-C69B-81DE-48E7ACB90ACA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3904730" y="2219204"/>
            <a:ext cx="582564" cy="67474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연결선: 꺾임 406">
            <a:extLst>
              <a:ext uri="{FF2B5EF4-FFF2-40B4-BE49-F238E27FC236}">
                <a16:creationId xmlns:a16="http://schemas.microsoft.com/office/drawing/2014/main" id="{52E368A3-B05E-A209-EE9A-9B09A4748A8B}"/>
              </a:ext>
            </a:extLst>
          </p:cNvPr>
          <p:cNvCxnSpPr>
            <a:cxnSpLocks/>
            <a:stCxn id="190" idx="2"/>
            <a:endCxn id="325" idx="1"/>
          </p:cNvCxnSpPr>
          <p:nvPr/>
        </p:nvCxnSpPr>
        <p:spPr>
          <a:xfrm rot="16200000" flipH="1">
            <a:off x="5593900" y="2508562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83603CA9-53C9-99D1-0DA2-05A16781B474}"/>
              </a:ext>
            </a:extLst>
          </p:cNvPr>
          <p:cNvCxnSpPr>
            <a:cxnSpLocks/>
            <a:stCxn id="191" idx="0"/>
            <a:endCxn id="325" idx="1"/>
          </p:cNvCxnSpPr>
          <p:nvPr/>
        </p:nvCxnSpPr>
        <p:spPr>
          <a:xfrm rot="5400000" flipH="1" flipV="1">
            <a:off x="5593900" y="2908946"/>
            <a:ext cx="400382" cy="308784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A9469248-6483-D1BF-C3D2-92BBF4048610}"/>
              </a:ext>
            </a:extLst>
          </p:cNvPr>
          <p:cNvSpPr/>
          <p:nvPr/>
        </p:nvSpPr>
        <p:spPr>
          <a:xfrm>
            <a:off x="1775610" y="1176536"/>
            <a:ext cx="1419534" cy="32386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1" name="순서도: 처리 410">
            <a:extLst>
              <a:ext uri="{FF2B5EF4-FFF2-40B4-BE49-F238E27FC236}">
                <a16:creationId xmlns:a16="http://schemas.microsoft.com/office/drawing/2014/main" id="{8594DC47-A4C5-8D74-3F7D-95494F39A4F1}"/>
              </a:ext>
            </a:extLst>
          </p:cNvPr>
          <p:cNvSpPr/>
          <p:nvPr/>
        </p:nvSpPr>
        <p:spPr>
          <a:xfrm>
            <a:off x="3482740" y="1176536"/>
            <a:ext cx="1253615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12" name="순서도: 처리 411">
            <a:extLst>
              <a:ext uri="{FF2B5EF4-FFF2-40B4-BE49-F238E27FC236}">
                <a16:creationId xmlns:a16="http://schemas.microsoft.com/office/drawing/2014/main" id="{196DBF35-2ABA-1E1F-9AE0-D7CF439F7FA6}"/>
              </a:ext>
            </a:extLst>
          </p:cNvPr>
          <p:cNvSpPr/>
          <p:nvPr/>
        </p:nvSpPr>
        <p:spPr>
          <a:xfrm>
            <a:off x="4810096" y="1176536"/>
            <a:ext cx="2072148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4A53CD10-AE9B-1918-7BB2-CB976255E878}"/>
              </a:ext>
            </a:extLst>
          </p:cNvPr>
          <p:cNvCxnSpPr>
            <a:stCxn id="13" idx="4"/>
            <a:endCxn id="15" idx="1"/>
          </p:cNvCxnSpPr>
          <p:nvPr/>
        </p:nvCxnSpPr>
        <p:spPr>
          <a:xfrm flipV="1">
            <a:off x="1502766" y="1762551"/>
            <a:ext cx="383455" cy="2201199"/>
          </a:xfrm>
          <a:prstGeom prst="bentConnector3">
            <a:avLst>
              <a:gd name="adj1" fmla="val 4801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21A0D30D-5731-7FC7-E384-7F6920DCFD51}"/>
              </a:ext>
            </a:extLst>
          </p:cNvPr>
          <p:cNvSpPr txBox="1"/>
          <p:nvPr/>
        </p:nvSpPr>
        <p:spPr>
          <a:xfrm>
            <a:off x="717419" y="1179682"/>
            <a:ext cx="744789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2" dirty="0"/>
              <a:t>데이터 소스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6D9E4E-2A3F-B046-56F1-94F82815AEB2}"/>
              </a:ext>
            </a:extLst>
          </p:cNvPr>
          <p:cNvSpPr txBox="1"/>
          <p:nvPr/>
        </p:nvSpPr>
        <p:spPr>
          <a:xfrm>
            <a:off x="1787501" y="1189520"/>
            <a:ext cx="140965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베이스라인 및 파생변수 세트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F6044FA-1C18-39A3-2814-AB0ED3DEB2F6}"/>
              </a:ext>
            </a:extLst>
          </p:cNvPr>
          <p:cNvSpPr txBox="1"/>
          <p:nvPr/>
        </p:nvSpPr>
        <p:spPr>
          <a:xfrm>
            <a:off x="3558389" y="118317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0FF3D523-FFA8-90F2-92A1-534B286FE2B7}"/>
              </a:ext>
            </a:extLst>
          </p:cNvPr>
          <p:cNvSpPr txBox="1"/>
          <p:nvPr/>
        </p:nvSpPr>
        <p:spPr>
          <a:xfrm>
            <a:off x="5338430" y="1182062"/>
            <a:ext cx="911301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406476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0BB0B-4108-3A43-C742-2F03B03F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림 71" descr="지도, 도표, 텍스트이(가) 표시된 사진">
            <a:extLst>
              <a:ext uri="{FF2B5EF4-FFF2-40B4-BE49-F238E27FC236}">
                <a16:creationId xmlns:a16="http://schemas.microsoft.com/office/drawing/2014/main" id="{C48DF333-8074-DD05-C9C9-A91E92D02A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206" y="1851676"/>
            <a:ext cx="1652903" cy="890546"/>
          </a:xfrm>
          <a:prstGeom prst="rect">
            <a:avLst/>
          </a:prstGeom>
        </p:spPr>
      </p:pic>
      <p:sp>
        <p:nvSpPr>
          <p:cNvPr id="391" name="순서도: 처리 390">
            <a:extLst>
              <a:ext uri="{FF2B5EF4-FFF2-40B4-BE49-F238E27FC236}">
                <a16:creationId xmlns:a16="http://schemas.microsoft.com/office/drawing/2014/main" id="{F5CB334B-AE15-C908-140E-90293905556B}"/>
              </a:ext>
            </a:extLst>
          </p:cNvPr>
          <p:cNvSpPr/>
          <p:nvPr/>
        </p:nvSpPr>
        <p:spPr>
          <a:xfrm>
            <a:off x="145481" y="1235900"/>
            <a:ext cx="1077540" cy="3238655"/>
          </a:xfrm>
          <a:prstGeom prst="flowChartProcess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94D3C046-1C35-84FF-6019-21F37CBC26B2}"/>
              </a:ext>
            </a:extLst>
          </p:cNvPr>
          <p:cNvSpPr/>
          <p:nvPr/>
        </p:nvSpPr>
        <p:spPr>
          <a:xfrm>
            <a:off x="282362" y="1486392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 전송 및 반응 로그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(Interaction Logs)</a:t>
            </a:r>
          </a:p>
        </p:txBody>
      </p:sp>
      <p:sp>
        <p:nvSpPr>
          <p:cNvPr id="11" name="순서도: 자기 디스크 10">
            <a:extLst>
              <a:ext uri="{FF2B5EF4-FFF2-40B4-BE49-F238E27FC236}">
                <a16:creationId xmlns:a16="http://schemas.microsoft.com/office/drawing/2014/main" id="{5C60EFE5-C72B-1206-44C1-2331B096036F}"/>
              </a:ext>
            </a:extLst>
          </p:cNvPr>
          <p:cNvSpPr/>
          <p:nvPr/>
        </p:nvSpPr>
        <p:spPr>
          <a:xfrm>
            <a:off x="282361" y="2220124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캠페인 메타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(Campaign Meta data)</a:t>
            </a:r>
          </a:p>
        </p:txBody>
      </p:sp>
      <p:sp>
        <p:nvSpPr>
          <p:cNvPr id="12" name="순서도: 자기 디스크 11">
            <a:extLst>
              <a:ext uri="{FF2B5EF4-FFF2-40B4-BE49-F238E27FC236}">
                <a16:creationId xmlns:a16="http://schemas.microsoft.com/office/drawing/2014/main" id="{20D5D9FC-2DE9-FF09-0D43-D47C733167DA}"/>
              </a:ext>
            </a:extLst>
          </p:cNvPr>
          <p:cNvSpPr/>
          <p:nvPr/>
        </p:nvSpPr>
        <p:spPr>
          <a:xfrm>
            <a:off x="282361" y="2953857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고객 관계 속성</a:t>
            </a:r>
            <a:r>
              <a:rPr lang="en-US" altLang="ko-KR" sz="677" dirty="0">
                <a:solidFill>
                  <a:schemeClr val="tx1"/>
                </a:solidFill>
              </a:rPr>
              <a:t>(Customer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Attributes)</a:t>
            </a:r>
          </a:p>
        </p:txBody>
      </p:sp>
      <p:sp>
        <p:nvSpPr>
          <p:cNvPr id="13" name="순서도: 자기 디스크 12">
            <a:extLst>
              <a:ext uri="{FF2B5EF4-FFF2-40B4-BE49-F238E27FC236}">
                <a16:creationId xmlns:a16="http://schemas.microsoft.com/office/drawing/2014/main" id="{EBCDAD9B-174C-F981-1965-B039BA625DAF}"/>
              </a:ext>
            </a:extLst>
          </p:cNvPr>
          <p:cNvSpPr/>
          <p:nvPr/>
        </p:nvSpPr>
        <p:spPr>
          <a:xfrm>
            <a:off x="300796" y="3687589"/>
            <a:ext cx="825909" cy="671051"/>
          </a:xfrm>
          <a:prstGeom prst="flowChartMagneticDisk">
            <a:avLst/>
          </a:prstGeom>
          <a:solidFill>
            <a:srgbClr val="DAE8F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외부 시점 정보</a:t>
            </a: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(Temporal Context)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C16D672-CD63-2B74-DCB5-AD5EA12A1E71}"/>
              </a:ext>
            </a:extLst>
          </p:cNvPr>
          <p:cNvSpPr/>
          <p:nvPr/>
        </p:nvSpPr>
        <p:spPr>
          <a:xfrm>
            <a:off x="1550771" y="144544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베이스라인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 err="1">
                <a:solidFill>
                  <a:schemeClr val="tx1"/>
                </a:solidFill>
              </a:rPr>
              <a:t>피쳐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세트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AE20B9-54F0-2912-8922-DEAF77755F6F}"/>
              </a:ext>
            </a:extLst>
          </p:cNvPr>
          <p:cNvSpPr/>
          <p:nvPr/>
        </p:nvSpPr>
        <p:spPr>
          <a:xfrm>
            <a:off x="1917586" y="2071277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1] </a:t>
            </a:r>
            <a:r>
              <a:rPr lang="ko-KR" altLang="en-US" sz="677" dirty="0">
                <a:solidFill>
                  <a:schemeClr val="tx1"/>
                </a:solidFill>
              </a:rPr>
              <a:t>구매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및 재구매 패턴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7A00849-4DC5-D934-082B-4E450D8EC4FB}"/>
              </a:ext>
            </a:extLst>
          </p:cNvPr>
          <p:cNvSpPr/>
          <p:nvPr/>
        </p:nvSpPr>
        <p:spPr>
          <a:xfrm>
            <a:off x="1912053" y="269567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2] </a:t>
            </a:r>
            <a:r>
              <a:rPr lang="ko-KR" altLang="en-US" sz="677" dirty="0">
                <a:solidFill>
                  <a:schemeClr val="tx1"/>
                </a:solidFill>
              </a:rPr>
              <a:t>시계열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메시지</a:t>
            </a:r>
            <a:r>
              <a:rPr lang="en-US" altLang="ko-KR" sz="677" dirty="0">
                <a:solidFill>
                  <a:schemeClr val="tx1"/>
                </a:solidFill>
              </a:rPr>
              <a:t> </a:t>
            </a:r>
            <a:r>
              <a:rPr lang="ko-KR" altLang="en-US" sz="677" dirty="0">
                <a:solidFill>
                  <a:schemeClr val="tx1"/>
                </a:solidFill>
              </a:rPr>
              <a:t>반응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5CC6BE-5CD1-E104-1A70-181D96ECBF98}"/>
              </a:ext>
            </a:extLst>
          </p:cNvPr>
          <p:cNvSpPr/>
          <p:nvPr/>
        </p:nvSpPr>
        <p:spPr>
          <a:xfrm>
            <a:off x="1912053" y="3916925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4]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채널 효과성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7F43B5B-E105-D5B4-A7F9-3EFACFD89314}"/>
              </a:ext>
            </a:extLst>
          </p:cNvPr>
          <p:cNvSpPr/>
          <p:nvPr/>
        </p:nvSpPr>
        <p:spPr>
          <a:xfrm>
            <a:off x="1919420" y="3319802"/>
            <a:ext cx="825909" cy="398208"/>
          </a:xfrm>
          <a:prstGeom prst="roundRect">
            <a:avLst/>
          </a:prstGeom>
          <a:solidFill>
            <a:srgbClr val="D5E8D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[</a:t>
            </a:r>
            <a:r>
              <a:rPr lang="ko-KR" altLang="en-US" sz="677" dirty="0">
                <a:solidFill>
                  <a:schemeClr val="tx1"/>
                </a:solidFill>
              </a:rPr>
              <a:t>축</a:t>
            </a:r>
            <a:r>
              <a:rPr lang="en-US" altLang="ko-KR" sz="677" dirty="0">
                <a:solidFill>
                  <a:schemeClr val="tx1"/>
                </a:solidFill>
              </a:rPr>
              <a:t>3] </a:t>
            </a:r>
            <a:r>
              <a:rPr lang="ko-KR" altLang="en-US" sz="677" dirty="0">
                <a:solidFill>
                  <a:schemeClr val="tx1"/>
                </a:solidFill>
              </a:rPr>
              <a:t>마케팅 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피로도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B92E90C-289D-ABDA-408E-6600B357971E}"/>
              </a:ext>
            </a:extLst>
          </p:cNvPr>
          <p:cNvCxnSpPr>
            <a:cxnSpLocks/>
            <a:stCxn id="8" idx="4"/>
            <a:endCxn id="15" idx="1"/>
          </p:cNvCxnSpPr>
          <p:nvPr/>
        </p:nvCxnSpPr>
        <p:spPr>
          <a:xfrm flipV="1">
            <a:off x="1108277" y="1644548"/>
            <a:ext cx="442501" cy="177371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8FB9D24-254E-1BB5-0191-BDC2F2519D67}"/>
              </a:ext>
            </a:extLst>
          </p:cNvPr>
          <p:cNvCxnSpPr>
            <a:cxnSpLocks/>
            <a:stCxn id="11" idx="4"/>
            <a:endCxn id="15" idx="1"/>
          </p:cNvCxnSpPr>
          <p:nvPr/>
        </p:nvCxnSpPr>
        <p:spPr>
          <a:xfrm flipV="1">
            <a:off x="1108275" y="1644545"/>
            <a:ext cx="442501" cy="911103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5BC7D65-67E9-BB0B-C3F8-5157043832A3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V="1">
            <a:off x="1108275" y="1644553"/>
            <a:ext cx="442501" cy="1644836"/>
          </a:xfrm>
          <a:prstGeom prst="bentConnector3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순서도: 다중 문서 63">
            <a:extLst>
              <a:ext uri="{FF2B5EF4-FFF2-40B4-BE49-F238E27FC236}">
                <a16:creationId xmlns:a16="http://schemas.microsoft.com/office/drawing/2014/main" id="{3A916A98-7257-538A-2124-3925138F8DDE}"/>
              </a:ext>
            </a:extLst>
          </p:cNvPr>
          <p:cNvSpPr/>
          <p:nvPr/>
        </p:nvSpPr>
        <p:spPr>
          <a:xfrm>
            <a:off x="5367515" y="2742222"/>
            <a:ext cx="980766" cy="700548"/>
          </a:xfrm>
          <a:prstGeom prst="flowChartMultidocument">
            <a:avLst/>
          </a:prstGeom>
          <a:solidFill>
            <a:srgbClr val="E1D5E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1" dirty="0">
                <a:solidFill>
                  <a:schemeClr val="tx1"/>
                </a:solidFill>
              </a:rPr>
              <a:t>모델 학습</a:t>
            </a:r>
            <a:endParaRPr lang="en-US" altLang="ko-KR" sz="601" dirty="0">
              <a:solidFill>
                <a:schemeClr val="tx1"/>
              </a:solidFill>
            </a:endParaRP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RF,XGB,MLP,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RNN, CNN, LSTM,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RNN-LSTM, </a:t>
            </a:r>
          </a:p>
          <a:p>
            <a:pPr algn="ctr"/>
            <a:r>
              <a:rPr lang="en-US" altLang="ko-KR" sz="601" dirty="0">
                <a:solidFill>
                  <a:schemeClr val="tx1"/>
                </a:solidFill>
              </a:rPr>
              <a:t>CNN-LSTM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2D6888-52F5-D71B-1DE5-270AC12C3B87}"/>
              </a:ext>
            </a:extLst>
          </p:cNvPr>
          <p:cNvSpPr/>
          <p:nvPr/>
        </p:nvSpPr>
        <p:spPr>
          <a:xfrm>
            <a:off x="5444945" y="1686737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7" dirty="0">
                <a:solidFill>
                  <a:schemeClr val="tx1"/>
                </a:solidFill>
              </a:rPr>
              <a:t>통합 </a:t>
            </a:r>
            <a:r>
              <a:rPr lang="ko-KR" altLang="en-US" sz="677" dirty="0" err="1">
                <a:solidFill>
                  <a:schemeClr val="tx1"/>
                </a:solidFill>
              </a:rPr>
              <a:t>피쳐셋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cxnSp>
        <p:nvCxnSpPr>
          <p:cNvPr id="359" name="연결선: 꺾임 358">
            <a:extLst>
              <a:ext uri="{FF2B5EF4-FFF2-40B4-BE49-F238E27FC236}">
                <a16:creationId xmlns:a16="http://schemas.microsoft.com/office/drawing/2014/main" id="{BE62C579-1C11-D529-2A34-B8D6F8F6B423}"/>
              </a:ext>
            </a:extLst>
          </p:cNvPr>
          <p:cNvCxnSpPr>
            <a:stCxn id="65" idx="2"/>
            <a:endCxn id="64" idx="0"/>
          </p:cNvCxnSpPr>
          <p:nvPr/>
        </p:nvCxnSpPr>
        <p:spPr>
          <a:xfrm rot="16200000" flipH="1">
            <a:off x="5563006" y="2379852"/>
            <a:ext cx="657276" cy="67474"/>
          </a:xfrm>
          <a:prstGeom prst="bentConnector3">
            <a:avLst>
              <a:gd name="adj1" fmla="val 52318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5FAF07FD-8C51-7C3F-EAE3-07DC79194B0A}"/>
              </a:ext>
            </a:extLst>
          </p:cNvPr>
          <p:cNvCxnSpPr>
            <a:cxnSpLocks/>
            <a:stCxn id="13" idx="4"/>
            <a:endCxn id="15" idx="1"/>
          </p:cNvCxnSpPr>
          <p:nvPr/>
        </p:nvCxnSpPr>
        <p:spPr>
          <a:xfrm flipV="1">
            <a:off x="1126708" y="1644550"/>
            <a:ext cx="424063" cy="2378571"/>
          </a:xfrm>
          <a:prstGeom prst="bentConnector3">
            <a:avLst>
              <a:gd name="adj1" fmla="val 48203"/>
            </a:avLst>
          </a:prstGeom>
          <a:ln w="952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5337B3A2-DBE8-54FD-C5BD-A3D8252872B8}"/>
              </a:ext>
            </a:extLst>
          </p:cNvPr>
          <p:cNvSpPr txBox="1"/>
          <p:nvPr/>
        </p:nvSpPr>
        <p:spPr>
          <a:xfrm>
            <a:off x="204491" y="1239049"/>
            <a:ext cx="1018524" cy="20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원본 데이터 통합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27AD3134-E802-C103-C130-D75B9A20DBC5}"/>
              </a:ext>
            </a:extLst>
          </p:cNvPr>
          <p:cNvSpPr txBox="1"/>
          <p:nvPr/>
        </p:nvSpPr>
        <p:spPr>
          <a:xfrm>
            <a:off x="1934267" y="1235902"/>
            <a:ext cx="2411156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52" b="1">
                <a:solidFill>
                  <a:srgbClr val="002060"/>
                </a:solidFill>
              </a:rPr>
              <a:t>[</a:t>
            </a:r>
            <a:r>
              <a:rPr lang="ko-KR" altLang="en-US" sz="752" b="1">
                <a:solidFill>
                  <a:srgbClr val="002060"/>
                </a:solidFill>
              </a:rPr>
              <a:t>베이스라인 </a:t>
            </a:r>
            <a:r>
              <a:rPr lang="en-US" altLang="ko-KR" sz="752" b="1">
                <a:solidFill>
                  <a:srgbClr val="002060"/>
                </a:solidFill>
              </a:rPr>
              <a:t>vs. 4</a:t>
            </a:r>
            <a:r>
              <a:rPr lang="ko-KR" altLang="en-US" sz="752" b="1">
                <a:solidFill>
                  <a:srgbClr val="002060"/>
                </a:solidFill>
              </a:rPr>
              <a:t>가지 핵심 마케팅 지식 프레임워크</a:t>
            </a:r>
            <a:r>
              <a:rPr lang="en-US" altLang="ko-KR" sz="752" b="1">
                <a:solidFill>
                  <a:srgbClr val="002060"/>
                </a:solidFill>
              </a:rPr>
              <a:t>]</a:t>
            </a:r>
            <a:endParaRPr lang="ko-KR" altLang="en-US" sz="752" b="1" dirty="0">
              <a:solidFill>
                <a:srgbClr val="002060"/>
              </a:solidFill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49F5025D-0265-6B51-46CD-6F82FC97ECA3}"/>
              </a:ext>
            </a:extLst>
          </p:cNvPr>
          <p:cNvSpPr txBox="1"/>
          <p:nvPr/>
        </p:nvSpPr>
        <p:spPr>
          <a:xfrm>
            <a:off x="5283835" y="1239048"/>
            <a:ext cx="1170512" cy="20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2" dirty="0"/>
              <a:t>실험 설계 및 모델 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/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구매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652FA5-0BF1-A398-D5C3-CA1E6BBA0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435" y="2197445"/>
                <a:ext cx="1995851" cy="340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34BE595-4617-D26C-DD70-81298E3D548E}"/>
              </a:ext>
            </a:extLst>
          </p:cNvPr>
          <p:cNvSpPr txBox="1"/>
          <p:nvPr/>
        </p:nvSpPr>
        <p:spPr>
          <a:xfrm>
            <a:off x="2799055" y="2019100"/>
            <a:ext cx="2043648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/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ko-KR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ko-KR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8C52-FF29-0E8C-3F49-F1B4C328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05" y="2843594"/>
                <a:ext cx="1340580" cy="4033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872107-887F-C81F-57D0-05D159386187}"/>
              </a:ext>
            </a:extLst>
          </p:cNvPr>
          <p:cNvSpPr txBox="1"/>
          <p:nvPr/>
        </p:nvSpPr>
        <p:spPr>
          <a:xfrm>
            <a:off x="2792067" y="264586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시점과 고객 선호 시간 간의 편차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/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259D7-7B8B-E20D-C50B-4973B2354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88" y="3482395"/>
                <a:ext cx="1370980" cy="326371"/>
              </a:xfrm>
              <a:prstGeom prst="rect">
                <a:avLst/>
              </a:prstGeom>
              <a:blipFill>
                <a:blip r:embed="rId5"/>
                <a:stretch>
                  <a:fillRect t="-96296" b="-142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21F56C-C91D-CFA1-EF58-2372D4BF12B4}"/>
              </a:ext>
            </a:extLst>
          </p:cNvPr>
          <p:cNvSpPr txBox="1"/>
          <p:nvPr/>
        </p:nvSpPr>
        <p:spPr>
          <a:xfrm>
            <a:off x="2843686" y="3260431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/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𝑝𝑎𝑡h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1C2351-13A4-486C-46D8-1903C3C28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344" y="4060465"/>
                <a:ext cx="1787091" cy="3109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B4B8296-4282-071E-C6BB-490BDE3E4A1E}"/>
              </a:ext>
            </a:extLst>
          </p:cNvPr>
          <p:cNvSpPr txBox="1"/>
          <p:nvPr/>
        </p:nvSpPr>
        <p:spPr>
          <a:xfrm>
            <a:off x="2843677" y="3871944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5458DE4-E62C-4F8A-7818-4503FF12CD5B}"/>
              </a:ext>
            </a:extLst>
          </p:cNvPr>
          <p:cNvSpPr/>
          <p:nvPr/>
        </p:nvSpPr>
        <p:spPr>
          <a:xfrm>
            <a:off x="1411438" y="1235900"/>
            <a:ext cx="3501897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6" name="사각형: 둥근 모서리 455">
            <a:extLst>
              <a:ext uri="{FF2B5EF4-FFF2-40B4-BE49-F238E27FC236}">
                <a16:creationId xmlns:a16="http://schemas.microsoft.com/office/drawing/2014/main" id="{C38F687E-ABC5-3890-1C96-C970A8B845D3}"/>
              </a:ext>
            </a:extLst>
          </p:cNvPr>
          <p:cNvSpPr/>
          <p:nvPr/>
        </p:nvSpPr>
        <p:spPr>
          <a:xfrm>
            <a:off x="1852556" y="3831822"/>
            <a:ext cx="2949086" cy="572091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7" name="사각형: 둥근 모서리 456">
            <a:extLst>
              <a:ext uri="{FF2B5EF4-FFF2-40B4-BE49-F238E27FC236}">
                <a16:creationId xmlns:a16="http://schemas.microsoft.com/office/drawing/2014/main" id="{587B4E4F-83BB-4AA2-B715-91F81496193D}"/>
              </a:ext>
            </a:extLst>
          </p:cNvPr>
          <p:cNvSpPr/>
          <p:nvPr/>
        </p:nvSpPr>
        <p:spPr>
          <a:xfrm>
            <a:off x="1852556" y="1967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8" name="사각형: 둥근 모서리 457">
            <a:extLst>
              <a:ext uri="{FF2B5EF4-FFF2-40B4-BE49-F238E27FC236}">
                <a16:creationId xmlns:a16="http://schemas.microsoft.com/office/drawing/2014/main" id="{A5816D3A-C3B3-567E-0D48-C39AECA8299B}"/>
              </a:ext>
            </a:extLst>
          </p:cNvPr>
          <p:cNvSpPr/>
          <p:nvPr/>
        </p:nvSpPr>
        <p:spPr>
          <a:xfrm>
            <a:off x="1852556" y="2590502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459" name="사각형: 둥근 모서리 458">
            <a:extLst>
              <a:ext uri="{FF2B5EF4-FFF2-40B4-BE49-F238E27FC236}">
                <a16:creationId xmlns:a16="http://schemas.microsoft.com/office/drawing/2014/main" id="{F512709A-C2B6-AB31-822A-3DFDD70F0F74}"/>
              </a:ext>
            </a:extLst>
          </p:cNvPr>
          <p:cNvSpPr/>
          <p:nvPr/>
        </p:nvSpPr>
        <p:spPr>
          <a:xfrm>
            <a:off x="1842193" y="3213894"/>
            <a:ext cx="2949086" cy="587600"/>
          </a:xfrm>
          <a:prstGeom prst="roundRect">
            <a:avLst/>
          </a:pr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16FF5090-EC7B-DE9C-7B4B-B39A10F77329}"/>
              </a:ext>
            </a:extLst>
          </p:cNvPr>
          <p:cNvCxnSpPr>
            <a:cxnSpLocks/>
            <a:stCxn id="15" idx="3"/>
            <a:endCxn id="457" idx="1"/>
          </p:cNvCxnSpPr>
          <p:nvPr/>
        </p:nvCxnSpPr>
        <p:spPr>
          <a:xfrm flipH="1">
            <a:off x="1852553" y="1644549"/>
            <a:ext cx="524129" cy="617145"/>
          </a:xfrm>
          <a:prstGeom prst="bentConnector5">
            <a:avLst>
              <a:gd name="adj1" fmla="val -32712"/>
              <a:gd name="adj2" fmla="val 4232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261FCE72-3715-EF47-E2CB-486EC6A33DC8}"/>
              </a:ext>
            </a:extLst>
          </p:cNvPr>
          <p:cNvCxnSpPr>
            <a:cxnSpLocks/>
            <a:stCxn id="15" idx="3"/>
            <a:endCxn id="458" idx="1"/>
          </p:cNvCxnSpPr>
          <p:nvPr/>
        </p:nvCxnSpPr>
        <p:spPr>
          <a:xfrm flipH="1">
            <a:off x="1852553" y="1644555"/>
            <a:ext cx="524129" cy="1239754"/>
          </a:xfrm>
          <a:prstGeom prst="bentConnector5">
            <a:avLst>
              <a:gd name="adj1" fmla="val -32712"/>
              <a:gd name="adj2" fmla="val 2128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A9B0D87B-1D23-5BB0-AD96-73130ED6CCD3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H="1">
            <a:off x="1842191" y="1644548"/>
            <a:ext cx="534491" cy="1863146"/>
          </a:xfrm>
          <a:prstGeom prst="bentConnector5">
            <a:avLst>
              <a:gd name="adj1" fmla="val -32077"/>
              <a:gd name="adj2" fmla="val 13718"/>
              <a:gd name="adj3" fmla="val 129939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연결선: 꺾임 475">
            <a:extLst>
              <a:ext uri="{FF2B5EF4-FFF2-40B4-BE49-F238E27FC236}">
                <a16:creationId xmlns:a16="http://schemas.microsoft.com/office/drawing/2014/main" id="{D5EC154B-5FD9-A0FE-A505-CB466DA8376D}"/>
              </a:ext>
            </a:extLst>
          </p:cNvPr>
          <p:cNvCxnSpPr>
            <a:cxnSpLocks/>
            <a:stCxn id="15" idx="3"/>
            <a:endCxn id="456" idx="1"/>
          </p:cNvCxnSpPr>
          <p:nvPr/>
        </p:nvCxnSpPr>
        <p:spPr>
          <a:xfrm flipH="1">
            <a:off x="1852553" y="1644553"/>
            <a:ext cx="524129" cy="2473316"/>
          </a:xfrm>
          <a:prstGeom prst="bentConnector5">
            <a:avLst>
              <a:gd name="adj1" fmla="val -32712"/>
              <a:gd name="adj2" fmla="val 10578"/>
              <a:gd name="adj3" fmla="val 13271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959E6A31-6CBD-143B-410D-A38B4AE5F691}"/>
              </a:ext>
            </a:extLst>
          </p:cNvPr>
          <p:cNvSpPr/>
          <p:nvPr/>
        </p:nvSpPr>
        <p:spPr>
          <a:xfrm>
            <a:off x="5101758" y="1235900"/>
            <a:ext cx="1512294" cy="3238655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251" name="연결선: 꺾임 250">
            <a:extLst>
              <a:ext uri="{FF2B5EF4-FFF2-40B4-BE49-F238E27FC236}">
                <a16:creationId xmlns:a16="http://schemas.microsoft.com/office/drawing/2014/main" id="{E6D02B6C-2B2E-FE77-9372-BEBD8229DFF2}"/>
              </a:ext>
            </a:extLst>
          </p:cNvPr>
          <p:cNvCxnSpPr>
            <a:stCxn id="457" idx="3"/>
            <a:endCxn id="65" idx="1"/>
          </p:cNvCxnSpPr>
          <p:nvPr/>
        </p:nvCxnSpPr>
        <p:spPr>
          <a:xfrm flipV="1">
            <a:off x="4801641" y="1885840"/>
            <a:ext cx="643308" cy="375855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연결선: 꺾임 253">
            <a:extLst>
              <a:ext uri="{FF2B5EF4-FFF2-40B4-BE49-F238E27FC236}">
                <a16:creationId xmlns:a16="http://schemas.microsoft.com/office/drawing/2014/main" id="{B147E5A4-B76B-DF26-7256-5176BC1AB239}"/>
              </a:ext>
            </a:extLst>
          </p:cNvPr>
          <p:cNvCxnSpPr>
            <a:cxnSpLocks/>
            <a:stCxn id="458" idx="3"/>
            <a:endCxn id="65" idx="1"/>
          </p:cNvCxnSpPr>
          <p:nvPr/>
        </p:nvCxnSpPr>
        <p:spPr>
          <a:xfrm flipV="1">
            <a:off x="4801641" y="1885845"/>
            <a:ext cx="643308" cy="998462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25DBE6E-B6D8-1738-FDF7-7FBBC0530174}"/>
              </a:ext>
            </a:extLst>
          </p:cNvPr>
          <p:cNvCxnSpPr>
            <a:cxnSpLocks/>
            <a:stCxn id="459" idx="3"/>
            <a:endCxn id="65" idx="1"/>
          </p:cNvCxnSpPr>
          <p:nvPr/>
        </p:nvCxnSpPr>
        <p:spPr>
          <a:xfrm flipV="1">
            <a:off x="4791283" y="1885841"/>
            <a:ext cx="653669" cy="1621854"/>
          </a:xfrm>
          <a:prstGeom prst="bentConnector3">
            <a:avLst>
              <a:gd name="adj1" fmla="val 34846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C3608DB0-F85E-1259-5E57-1BABD58E8FC9}"/>
              </a:ext>
            </a:extLst>
          </p:cNvPr>
          <p:cNvCxnSpPr>
            <a:stCxn id="456" idx="3"/>
            <a:endCxn id="65" idx="1"/>
          </p:cNvCxnSpPr>
          <p:nvPr/>
        </p:nvCxnSpPr>
        <p:spPr>
          <a:xfrm flipV="1">
            <a:off x="4801641" y="1885843"/>
            <a:ext cx="643308" cy="2232024"/>
          </a:xfrm>
          <a:prstGeom prst="bentConnector3">
            <a:avLst>
              <a:gd name="adj1" fmla="val 334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24A8BDB1-0DAC-D1CE-AB71-D0A17E0A08B2}"/>
              </a:ext>
            </a:extLst>
          </p:cNvPr>
          <p:cNvSpPr/>
          <p:nvPr/>
        </p:nvSpPr>
        <p:spPr>
          <a:xfrm>
            <a:off x="6944429" y="2140383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26" dirty="0">
                <a:solidFill>
                  <a:schemeClr val="tx1"/>
                </a:solidFill>
              </a:rPr>
              <a:t>정량적 성능 평가</a:t>
            </a:r>
            <a:endParaRPr lang="en-US" altLang="ko-KR" sz="526" dirty="0">
              <a:solidFill>
                <a:schemeClr val="tx1"/>
              </a:solidFill>
            </a:endParaRPr>
          </a:p>
          <a:p>
            <a:pPr algn="ctr"/>
            <a:r>
              <a:rPr lang="en-US" altLang="ko-KR" sz="526" dirty="0">
                <a:solidFill>
                  <a:schemeClr val="tx1"/>
                </a:solidFill>
              </a:rPr>
              <a:t>(Precision, Recall, F1-score, </a:t>
            </a:r>
            <a:r>
              <a:rPr lang="en-US" altLang="ko-KR" sz="526" dirty="0" err="1">
                <a:solidFill>
                  <a:schemeClr val="tx1"/>
                </a:solidFill>
              </a:rPr>
              <a:t>Accuracy,AUC</a:t>
            </a:r>
            <a:r>
              <a:rPr lang="en-US" altLang="ko-KR" sz="526" dirty="0">
                <a:solidFill>
                  <a:schemeClr val="tx1"/>
                </a:solidFill>
              </a:rPr>
              <a:t>)</a:t>
            </a:r>
            <a:endParaRPr lang="ko-KR" altLang="en-US" sz="526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FF09D08-907B-7168-3EAF-6B7D9F38A702}"/>
              </a:ext>
            </a:extLst>
          </p:cNvPr>
          <p:cNvSpPr/>
          <p:nvPr/>
        </p:nvSpPr>
        <p:spPr>
          <a:xfrm>
            <a:off x="6961408" y="3602391"/>
            <a:ext cx="825909" cy="398208"/>
          </a:xfrm>
          <a:prstGeom prst="roundRect">
            <a:avLst/>
          </a:prstGeom>
          <a:solidFill>
            <a:srgbClr val="F8CE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XAI</a:t>
            </a:r>
            <a:r>
              <a:rPr lang="ko-KR" altLang="en-US" sz="677" dirty="0">
                <a:solidFill>
                  <a:schemeClr val="tx1"/>
                </a:solidFill>
              </a:rPr>
              <a:t> 분석</a:t>
            </a:r>
            <a:endParaRPr lang="en-US" altLang="ko-KR" sz="677" dirty="0">
              <a:solidFill>
                <a:schemeClr val="tx1"/>
              </a:solidFill>
            </a:endParaRPr>
          </a:p>
          <a:p>
            <a:pPr algn="ctr"/>
            <a:r>
              <a:rPr lang="en-US" altLang="ko-KR" sz="677" dirty="0">
                <a:solidFill>
                  <a:schemeClr val="tx1"/>
                </a:solidFill>
              </a:rPr>
              <a:t>(</a:t>
            </a:r>
            <a:r>
              <a:rPr lang="en-US" altLang="ko-KR" sz="677" dirty="0" err="1">
                <a:solidFill>
                  <a:schemeClr val="tx1"/>
                </a:solidFill>
              </a:rPr>
              <a:t>shap</a:t>
            </a:r>
            <a:r>
              <a:rPr lang="en-US" altLang="ko-KR" sz="677" dirty="0">
                <a:solidFill>
                  <a:schemeClr val="tx1"/>
                </a:solidFill>
              </a:rPr>
              <a:t> values)</a:t>
            </a:r>
            <a:endParaRPr lang="ko-KR" altLang="en-US" sz="677" dirty="0">
              <a:solidFill>
                <a:schemeClr val="tx1"/>
              </a:solidFill>
            </a:endParaRPr>
          </a:p>
        </p:txBody>
      </p:sp>
      <p:pic>
        <p:nvPicPr>
          <p:cNvPr id="73" name="그림 7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BE1BBD-F1F2-B68C-1FCC-52E321E7A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177" y="3319804"/>
            <a:ext cx="1236741" cy="935483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DA08D39-0A19-E017-0F86-C7F5C1320DEC}"/>
              </a:ext>
            </a:extLst>
          </p:cNvPr>
          <p:cNvSpPr/>
          <p:nvPr/>
        </p:nvSpPr>
        <p:spPr>
          <a:xfrm>
            <a:off x="6800856" y="1235900"/>
            <a:ext cx="3979709" cy="323865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85BFB5E-180A-648E-878D-72433C6B88EB}"/>
              </a:ext>
            </a:extLst>
          </p:cNvPr>
          <p:cNvSpPr/>
          <p:nvPr/>
        </p:nvSpPr>
        <p:spPr>
          <a:xfrm>
            <a:off x="6905564" y="1737270"/>
            <a:ext cx="2560877" cy="1204439"/>
          </a:xfrm>
          <a:prstGeom prst="round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15597ED-7A7E-A9F0-B90A-F8EA8B5FA593}"/>
              </a:ext>
            </a:extLst>
          </p:cNvPr>
          <p:cNvSpPr/>
          <p:nvPr/>
        </p:nvSpPr>
        <p:spPr>
          <a:xfrm>
            <a:off x="6912551" y="3199278"/>
            <a:ext cx="2560877" cy="1204439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19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05A6329-B602-60E3-2566-35F4C66EB371}"/>
              </a:ext>
            </a:extLst>
          </p:cNvPr>
          <p:cNvSpPr/>
          <p:nvPr/>
        </p:nvSpPr>
        <p:spPr>
          <a:xfrm>
            <a:off x="9866993" y="2887264"/>
            <a:ext cx="825909" cy="398208"/>
          </a:xfrm>
          <a:prstGeom prst="roundRect">
            <a:avLst/>
          </a:prstGeom>
          <a:solidFill>
            <a:srgbClr val="FFF2CC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최적 성능 모델선정</a:t>
            </a:r>
            <a:r>
              <a:rPr lang="en-US" altLang="ko-KR" sz="679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679" dirty="0">
                <a:solidFill>
                  <a:schemeClr val="tx1"/>
                </a:solidFill>
              </a:rPr>
              <a:t>지식 기여도 검증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FB595A2-A380-E316-1019-A8920AEE7B45}"/>
              </a:ext>
            </a:extLst>
          </p:cNvPr>
          <p:cNvCxnSpPr>
            <a:stCxn id="64" idx="3"/>
            <a:endCxn id="67" idx="1"/>
          </p:cNvCxnSpPr>
          <p:nvPr/>
        </p:nvCxnSpPr>
        <p:spPr>
          <a:xfrm flipV="1">
            <a:off x="6348281" y="2339490"/>
            <a:ext cx="596149" cy="753006"/>
          </a:xfrm>
          <a:prstGeom prst="bentConnector3">
            <a:avLst>
              <a:gd name="adj1" fmla="val 62482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4A6BB635-4396-46AD-B596-9CCA5BF73DCA}"/>
              </a:ext>
            </a:extLst>
          </p:cNvPr>
          <p:cNvCxnSpPr>
            <a:stCxn id="64" idx="3"/>
            <a:endCxn id="76" idx="1"/>
          </p:cNvCxnSpPr>
          <p:nvPr/>
        </p:nvCxnSpPr>
        <p:spPr>
          <a:xfrm>
            <a:off x="6348284" y="3092493"/>
            <a:ext cx="564268" cy="709002"/>
          </a:xfrm>
          <a:prstGeom prst="bentConnector3">
            <a:avLst>
              <a:gd name="adj1" fmla="val 66117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91A5A284-74B4-F322-7002-4A845856C731}"/>
              </a:ext>
            </a:extLst>
          </p:cNvPr>
          <p:cNvCxnSpPr>
            <a:stCxn id="75" idx="3"/>
            <a:endCxn id="77" idx="1"/>
          </p:cNvCxnSpPr>
          <p:nvPr/>
        </p:nvCxnSpPr>
        <p:spPr>
          <a:xfrm>
            <a:off x="9466441" y="2339490"/>
            <a:ext cx="400555" cy="746881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64CDBD52-C10A-B3BC-EBB7-C03D41DCA771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 flipV="1">
            <a:off x="9473426" y="3086367"/>
            <a:ext cx="393568" cy="715128"/>
          </a:xfrm>
          <a:prstGeom prst="bentConnector3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6E20796-80D8-4308-97E1-460FD28B7B39}"/>
              </a:ext>
            </a:extLst>
          </p:cNvPr>
          <p:cNvSpPr txBox="1"/>
          <p:nvPr/>
        </p:nvSpPr>
        <p:spPr>
          <a:xfrm>
            <a:off x="8360033" y="1236223"/>
            <a:ext cx="913507" cy="20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51" dirty="0"/>
              <a:t>성능 평가 및 해석</a:t>
            </a:r>
          </a:p>
        </p:txBody>
      </p:sp>
    </p:spTree>
    <p:extLst>
      <p:ext uri="{BB962C8B-B14F-4D97-AF65-F5344CB8AC3E}">
        <p14:creationId xmlns:p14="http://schemas.microsoft.com/office/powerpoint/2010/main" val="174432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A1B0E-4146-4A21-8F02-C5C98BFF0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13" y="1488490"/>
            <a:ext cx="4175961" cy="2320692"/>
          </a:xfrm>
          <a:prstGeom prst="rect">
            <a:avLst/>
          </a:prstGeom>
        </p:spPr>
      </p:pic>
      <p:pic>
        <p:nvPicPr>
          <p:cNvPr id="6" name="그림 5" descr="지도, 도표, 텍스트이(가) 표시된 사진">
            <a:extLst>
              <a:ext uri="{FF2B5EF4-FFF2-40B4-BE49-F238E27FC236}">
                <a16:creationId xmlns:a16="http://schemas.microsoft.com/office/drawing/2014/main" id="{0B4933A6-494D-90CF-0CF9-148D8251D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041" y="4195778"/>
            <a:ext cx="2737082" cy="1474676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FE62AB-3607-4959-D959-BC975B9E98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18" y="4165647"/>
            <a:ext cx="2273471" cy="1474676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D0D9F8-24B7-D39B-A5F0-AC2F10BC7357}"/>
              </a:ext>
            </a:extLst>
          </p:cNvPr>
          <p:cNvSpPr/>
          <p:nvPr/>
        </p:nvSpPr>
        <p:spPr>
          <a:xfrm>
            <a:off x="1524008" y="857259"/>
            <a:ext cx="9221029" cy="5143500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0EB460-F573-8957-82F7-0A1836B59871}"/>
              </a:ext>
            </a:extLst>
          </p:cNvPr>
          <p:cNvCxnSpPr>
            <a:cxnSpLocks/>
          </p:cNvCxnSpPr>
          <p:nvPr/>
        </p:nvCxnSpPr>
        <p:spPr>
          <a:xfrm>
            <a:off x="1717822" y="1386512"/>
            <a:ext cx="87514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E2A6F6-8D9B-7875-E438-5C32149EA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074" y="4165647"/>
            <a:ext cx="1949574" cy="1474676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B509B1-49EB-9D61-9163-A737F87DA768}"/>
              </a:ext>
            </a:extLst>
          </p:cNvPr>
          <p:cNvSpPr/>
          <p:nvPr/>
        </p:nvSpPr>
        <p:spPr>
          <a:xfrm>
            <a:off x="1717827" y="144892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5A639C-0601-6C41-C849-63E45005D267}"/>
              </a:ext>
            </a:extLst>
          </p:cNvPr>
          <p:cNvSpPr/>
          <p:nvPr/>
        </p:nvSpPr>
        <p:spPr>
          <a:xfrm>
            <a:off x="1730942" y="4025127"/>
            <a:ext cx="8805111" cy="1923220"/>
          </a:xfrm>
          <a:prstGeom prst="roundRect">
            <a:avLst>
              <a:gd name="adj" fmla="val 27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8B38C-E942-4F79-11DF-8F43C5ECC946}"/>
              </a:ext>
            </a:extLst>
          </p:cNvPr>
          <p:cNvSpPr txBox="1"/>
          <p:nvPr/>
        </p:nvSpPr>
        <p:spPr>
          <a:xfrm>
            <a:off x="2172850" y="5729775"/>
            <a:ext cx="227347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 err="1">
                <a:solidFill>
                  <a:srgbClr val="FF0000"/>
                </a:solidFill>
              </a:rPr>
              <a:t>머신러닝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딥러닝</a:t>
            </a:r>
            <a:r>
              <a:rPr lang="en-US" altLang="ko-KR" sz="677" b="1" dirty="0">
                <a:solidFill>
                  <a:srgbClr val="FF0000"/>
                </a:solidFill>
              </a:rPr>
              <a:t>, </a:t>
            </a:r>
            <a:r>
              <a:rPr lang="ko-KR" altLang="en-US" sz="677" b="1" dirty="0">
                <a:solidFill>
                  <a:srgbClr val="FF0000"/>
                </a:solidFill>
              </a:rPr>
              <a:t>하이브리드 모델을 활용한 성능비교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FC1BC-9D23-C05B-F9AD-3B72738154E6}"/>
              </a:ext>
            </a:extLst>
          </p:cNvPr>
          <p:cNvSpPr txBox="1"/>
          <p:nvPr/>
        </p:nvSpPr>
        <p:spPr>
          <a:xfrm>
            <a:off x="5805776" y="5732631"/>
            <a:ext cx="1023729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독립변수 영향도 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3E9A43-740B-3BAB-0D24-C95253C4A44B}"/>
              </a:ext>
            </a:extLst>
          </p:cNvPr>
          <p:cNvSpPr txBox="1"/>
          <p:nvPr/>
        </p:nvSpPr>
        <p:spPr>
          <a:xfrm>
            <a:off x="8589120" y="5729775"/>
            <a:ext cx="1415151" cy="196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77" b="1" dirty="0">
                <a:solidFill>
                  <a:srgbClr val="FF0000"/>
                </a:solidFill>
              </a:rPr>
              <a:t> 각 </a:t>
            </a:r>
            <a:r>
              <a:rPr lang="ko-KR" altLang="en-US" sz="677" b="1" dirty="0" err="1">
                <a:solidFill>
                  <a:srgbClr val="FF0000"/>
                </a:solidFill>
              </a:rPr>
              <a:t>피쳐</a:t>
            </a:r>
            <a:r>
              <a:rPr lang="ko-KR" altLang="en-US" sz="677" b="1" dirty="0">
                <a:solidFill>
                  <a:srgbClr val="FF0000"/>
                </a:solidFill>
              </a:rPr>
              <a:t> 세트별 우선순위 도출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1B9D1-A6C4-4BA2-DE03-29FD58B8FC4A}"/>
              </a:ext>
            </a:extLst>
          </p:cNvPr>
          <p:cNvSpPr txBox="1"/>
          <p:nvPr/>
        </p:nvSpPr>
        <p:spPr>
          <a:xfrm>
            <a:off x="1727725" y="1488573"/>
            <a:ext cx="4590628" cy="140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기존에 이론적으로 존재하던 마케팅 지식을 모델이 학습할 수 있는 변수들로 변환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014" b="1" dirty="0"/>
              <a:t>SHAP </a:t>
            </a:r>
            <a:r>
              <a:rPr lang="ko-KR" altLang="en-US" sz="1014" b="1" dirty="0"/>
              <a:t>분석을 통하여 구매예측 뿐만 아니라 </a:t>
            </a:r>
            <a:r>
              <a:rPr lang="en-US" altLang="ko-KR" sz="1014" b="1" dirty="0"/>
              <a:t>‘</a:t>
            </a:r>
            <a:r>
              <a:rPr lang="ko-KR" altLang="en-US" sz="1014" b="1" dirty="0"/>
              <a:t>왜 마케팅 적기인가</a:t>
            </a:r>
            <a:r>
              <a:rPr lang="en-US" altLang="ko-KR" sz="1014" b="1" dirty="0"/>
              <a:t>’</a:t>
            </a:r>
            <a:r>
              <a:rPr lang="ko-KR" altLang="en-US" sz="1014" b="1" dirty="0"/>
              <a:t>를 설명할 수 있는 모델 구현</a:t>
            </a:r>
            <a:endParaRPr lang="en-US" altLang="ko-KR" sz="1014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014" b="1" dirty="0"/>
              <a:t>구매 전환율이 극도로 낮은 </a:t>
            </a:r>
            <a:r>
              <a:rPr lang="en-US" altLang="ko-KR" sz="1014" b="1" dirty="0"/>
              <a:t>CRM</a:t>
            </a:r>
            <a:r>
              <a:rPr lang="ko-KR" altLang="en-US" sz="1014" b="1" dirty="0"/>
              <a:t> 환경에서 도메인 특성을 장착한 모델이 예측성능과 일반화에서 우수하다는 것을 규명</a:t>
            </a:r>
            <a:endParaRPr lang="en-US" altLang="ko-KR" sz="1014" b="1" dirty="0"/>
          </a:p>
          <a:p>
            <a:endParaRPr lang="en-US" altLang="ko-KR" sz="900" b="1" dirty="0">
              <a:solidFill>
                <a:srgbClr val="FF0000"/>
              </a:solidFill>
            </a:endParaRPr>
          </a:p>
          <a:p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D890F-7518-D06B-1E3E-C90A1DB2C070}"/>
              </a:ext>
            </a:extLst>
          </p:cNvPr>
          <p:cNvSpPr txBox="1"/>
          <p:nvPr/>
        </p:nvSpPr>
        <p:spPr>
          <a:xfrm>
            <a:off x="2413289" y="1031128"/>
            <a:ext cx="7554366" cy="28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1274" b="1" dirty="0"/>
              <a:t>고객 구매의 역동성을 밝히다</a:t>
            </a:r>
            <a:r>
              <a:rPr lang="en-US" altLang="ko-KR" sz="1274" b="1" dirty="0"/>
              <a:t>: </a:t>
            </a:r>
            <a:r>
              <a:rPr lang="ko-KR" altLang="ko-KR" sz="1274" b="1" dirty="0"/>
              <a:t>딥러닝 시대에 데이터 희소성을 극복하는 마케팅 지식 주도 특성 공학 </a:t>
            </a:r>
            <a:endParaRPr lang="ko-KR" altLang="ko-KR" sz="1274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680F6A-63D7-8720-51C0-9BADB71BF64E}"/>
              </a:ext>
            </a:extLst>
          </p:cNvPr>
          <p:cNvSpPr/>
          <p:nvPr/>
        </p:nvSpPr>
        <p:spPr>
          <a:xfrm>
            <a:off x="6442421" y="1448925"/>
            <a:ext cx="4080519" cy="2463460"/>
          </a:xfrm>
          <a:prstGeom prst="roundRect">
            <a:avLst>
              <a:gd name="adj" fmla="val 24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/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01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sub>
                      </m:sSub>
                      <m:r>
                        <a:rPr lang="ko-KR" altLang="en-US" sz="601" b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601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ko-KR" altLang="en-US" sz="601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601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01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ko-KR" altLang="en-US" sz="601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en-US" sz="601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마지막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구매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경과일</m:t>
                                          </m:r>
                                          <m:r>
                                            <a:rPr lang="ko-KR" altLang="en-US" sz="601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601" b="1" i="1">
                                              <a:latin typeface="Cambria Math" panose="02040503050406030204" pitchFamily="18" charset="0"/>
                                            </a:rPr>
                                            <m:t>𝝈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ko-KR" altLang="en-US" sz="601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601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688D99-056C-E421-2897-11AF25D0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985" y="2791211"/>
                <a:ext cx="1995851" cy="3401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7CC1BE-13BB-8B80-6126-673502ED087C}"/>
              </a:ext>
            </a:extLst>
          </p:cNvPr>
          <p:cNvSpPr/>
          <p:nvPr/>
        </p:nvSpPr>
        <p:spPr>
          <a:xfrm>
            <a:off x="1726756" y="2725966"/>
            <a:ext cx="4656596" cy="1171515"/>
          </a:xfrm>
          <a:prstGeom prst="roundRect">
            <a:avLst>
              <a:gd name="adj" fmla="val 574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/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altLang="ko-KR" sz="677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677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ko-KR" altLang="ko-KR" sz="677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677" b="1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func>
                                <m:funcPr>
                                  <m:ctrlPr>
                                    <a:rPr lang="ko-KR" altLang="ko-KR" sz="677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sz="677" b="1" i="1"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ko-KR" altLang="ko-KR" sz="677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𝒄𝒖𝒓𝒓</m:t>
                                          </m:r>
                                        </m:sub>
                                      </m:sSub>
                                      <m:r>
                                        <a:rPr lang="en-US" altLang="ko-KR" sz="677" b="1" i="1"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ko-KR" altLang="ko-KR" sz="677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677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en-US" altLang="ko-KR" sz="677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ko-KR" altLang="en-US" sz="677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78DB7F5-7B4C-6216-6E62-176CC6D1C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530" y="3348411"/>
                <a:ext cx="1340580" cy="403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/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677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ko-KR" altLang="en-US" sz="677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ko-KR" altLang="en-US" sz="677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ko-KR" altLang="en-US" sz="677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4F62E65-994B-F23D-A265-EAA229CF9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24" y="2791215"/>
                <a:ext cx="1370980" cy="326371"/>
              </a:xfrm>
              <a:prstGeom prst="rect">
                <a:avLst/>
              </a:prstGeom>
              <a:blipFill>
                <a:blip r:embed="rId8"/>
                <a:stretch>
                  <a:fillRect t="-98113" b="-147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8F16EB67-B828-7B43-77B2-E49306C60F8B}"/>
              </a:ext>
            </a:extLst>
          </p:cNvPr>
          <p:cNvSpPr txBox="1"/>
          <p:nvPr/>
        </p:nvSpPr>
        <p:spPr>
          <a:xfrm>
            <a:off x="1836533" y="3113727"/>
            <a:ext cx="457324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고객의 과거 구매 간격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분포를 정규분포로 가정하고</a:t>
            </a:r>
            <a:r>
              <a:rPr lang="en-US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,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현재 경과 시간이 고객의 평균 주기와 얼마나 일치하는지 </a:t>
            </a:r>
            <a:r>
              <a:rPr lang="ko-KR" altLang="en-US" sz="526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산출</a:t>
            </a:r>
            <a:endParaRPr lang="ko-KR" altLang="en-US" sz="526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A462AC-F255-4B3B-840D-B6A44505F9A4}"/>
              </a:ext>
            </a:extLst>
          </p:cNvPr>
          <p:cNvSpPr txBox="1"/>
          <p:nvPr/>
        </p:nvSpPr>
        <p:spPr>
          <a:xfrm>
            <a:off x="1797352" y="3626812"/>
            <a:ext cx="250771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26" b="1" dirty="0">
                <a:solidFill>
                  <a:srgbClr val="FF0000"/>
                </a:solidFill>
              </a:rPr>
              <a:t>고객의 과거 반응시점을  고객별 “평균 선호 시간 벡터(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̅)로 산출 </a:t>
            </a:r>
            <a:endParaRPr lang="en-US" altLang="ko-KR" sz="526" b="1" dirty="0">
              <a:solidFill>
                <a:srgbClr val="FF0000"/>
              </a:solidFill>
            </a:endParaRPr>
          </a:p>
          <a:p>
            <a:r>
              <a:rPr lang="ko-KR" altLang="en-US" sz="526" b="1" dirty="0">
                <a:solidFill>
                  <a:srgbClr val="FF0000"/>
                </a:solidFill>
              </a:rPr>
              <a:t>현재 발송 시점(</a:t>
            </a:r>
            <a:r>
              <a:rPr lang="ko-KR" altLang="en-US" sz="526" b="1" dirty="0" err="1">
                <a:solidFill>
                  <a:srgbClr val="FF0000"/>
                </a:solidFill>
              </a:rPr>
              <a:t>θ_curr</a:t>
            </a:r>
            <a:r>
              <a:rPr lang="ko-KR" altLang="en-US" sz="526" b="1" dirty="0">
                <a:solidFill>
                  <a:srgbClr val="FF0000"/>
                </a:solidFill>
              </a:rPr>
              <a:t>)과 고객 선호 시간(</a:t>
            </a:r>
            <a:r>
              <a:rPr lang="ko-KR" altLang="en-US" sz="526" b="1" dirty="0" err="1">
                <a:solidFill>
                  <a:srgbClr val="FF0000"/>
                </a:solidFill>
              </a:rPr>
              <a:t>θ</a:t>
            </a:r>
            <a:r>
              <a:rPr lang="ko-KR" altLang="en-US" sz="526" b="1" dirty="0">
                <a:solidFill>
                  <a:srgbClr val="FF0000"/>
                </a:solidFill>
              </a:rPr>
              <a:t> ̅) 간의 편차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E16ACD-6490-1436-21FF-D6B34899A053}"/>
              </a:ext>
            </a:extLst>
          </p:cNvPr>
          <p:cNvSpPr txBox="1"/>
          <p:nvPr/>
        </p:nvSpPr>
        <p:spPr>
          <a:xfrm>
            <a:off x="4294786" y="3086287"/>
            <a:ext cx="2280452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수신된 모든 메시지의 잔존 영향력의 합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 </a:t>
            </a:r>
          </a:p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메시지 수신 직후에는 피로도가 급증하지만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서서히</a:t>
            </a:r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해소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/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677" i="1">
                              <a:latin typeface="Cambria Math" panose="02040503050406030204" pitchFamily="18" charset="0"/>
                            </a:rPr>
                            <m:t>𝑝𝑎𝑡h</m:t>
                          </m:r>
                        </m:sub>
                      </m:sSub>
                      <m:r>
                        <a:rPr lang="ko-KR" altLang="en-US" sz="677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67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∩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sz="677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𝑐𝑢𝑟𝑟𝑒𝑛𝑡</m:t>
                                  </m:r>
                                </m:sub>
                              </m:sSub>
                              <m:r>
                                <a:rPr lang="ko-KR" altLang="en-US" sz="677">
                                  <a:latin typeface="Cambria Math" panose="02040503050406030204" pitchFamily="18" charset="0"/>
                                </a:rPr>
                                <m:t>∪ </m:t>
                              </m:r>
                              <m:sSub>
                                <m:sSubPr>
                                  <m:ctrlP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ko-KR" altLang="en-US" sz="677" i="1">
                                      <a:latin typeface="Cambria Math" panose="02040503050406030204" pitchFamily="18" charset="0"/>
                                    </a:rPr>
                                    <m:t>𝑠𝑢𝑐𝑐𝑒𝑠𝑠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677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7C8878E-A0F6-A3BD-DCFC-5886EA300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872" y="3340843"/>
                <a:ext cx="1787091" cy="3109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A6191A03-9FCD-ACE4-E717-5B828CCF1CED}"/>
              </a:ext>
            </a:extLst>
          </p:cNvPr>
          <p:cNvSpPr txBox="1"/>
          <p:nvPr/>
        </p:nvSpPr>
        <p:spPr>
          <a:xfrm>
            <a:off x="4305058" y="3656127"/>
            <a:ext cx="1947594" cy="25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과거 구매자들의 전형적인 성공 경로와 얼마나 구조적으로 유사한지를</a:t>
            </a:r>
            <a:r>
              <a:rPr lang="en-US" altLang="ko-KR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ko-KR" altLang="en-US" sz="526" b="1" dirty="0" err="1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자카드</a:t>
            </a:r>
            <a:r>
              <a:rPr lang="ko-KR" altLang="en-US" sz="526" b="1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 유사도로 산출</a:t>
            </a:r>
            <a:endParaRPr lang="ko-KR" altLang="en-US" sz="526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EA7DDA-6B2F-91C6-2AD0-65F90F114F01}"/>
              </a:ext>
            </a:extLst>
          </p:cNvPr>
          <p:cNvSpPr txBox="1"/>
          <p:nvPr/>
        </p:nvSpPr>
        <p:spPr>
          <a:xfrm>
            <a:off x="1698662" y="4005867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6DE652-E02A-A896-C89D-DF6094C57F04}"/>
              </a:ext>
            </a:extLst>
          </p:cNvPr>
          <p:cNvSpPr txBox="1"/>
          <p:nvPr/>
        </p:nvSpPr>
        <p:spPr>
          <a:xfrm>
            <a:off x="1698660" y="2708378"/>
            <a:ext cx="453970" cy="2540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1" b="1" dirty="0"/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24470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2746-B3DC-BA5D-793F-9DEF5F75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54A94B96-FEEC-B15C-D180-6D09A9A5C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" y="0"/>
            <a:ext cx="12897065" cy="725459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BF2469-D4F4-4384-1BED-80A42DD515DD}"/>
              </a:ext>
            </a:extLst>
          </p:cNvPr>
          <p:cNvSpPr/>
          <p:nvPr/>
        </p:nvSpPr>
        <p:spPr>
          <a:xfrm>
            <a:off x="173621" y="254643"/>
            <a:ext cx="11852476" cy="6504972"/>
          </a:xfrm>
          <a:prstGeom prst="roundRect">
            <a:avLst>
              <a:gd name="adj" fmla="val 31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AFE4E0-1F74-D6DB-333B-32F1CA6C43EF}"/>
              </a:ext>
            </a:extLst>
          </p:cNvPr>
          <p:cNvCxnSpPr>
            <a:cxnSpLocks/>
          </p:cNvCxnSpPr>
          <p:nvPr/>
        </p:nvCxnSpPr>
        <p:spPr>
          <a:xfrm>
            <a:off x="354957" y="852587"/>
            <a:ext cx="11509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684676-EF43-CCA4-B056-8CF8E6F4A2DD}"/>
              </a:ext>
            </a:extLst>
          </p:cNvPr>
          <p:cNvSpPr/>
          <p:nvPr/>
        </p:nvSpPr>
        <p:spPr>
          <a:xfrm>
            <a:off x="327949" y="5332714"/>
            <a:ext cx="11509094" cy="1152571"/>
          </a:xfrm>
          <a:prstGeom prst="roundRect">
            <a:avLst>
              <a:gd name="adj" fmla="val 81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0E732-090C-D389-FA94-3956AB19DB6D}"/>
              </a:ext>
            </a:extLst>
          </p:cNvPr>
          <p:cNvSpPr txBox="1"/>
          <p:nvPr/>
        </p:nvSpPr>
        <p:spPr>
          <a:xfrm>
            <a:off x="327949" y="5470893"/>
            <a:ext cx="10113241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기존에 이론적으로 존재하던 마케팅 지식을 모델이 학습할 수 있는 변수들로 변환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altLang="ko-KR" sz="1400" b="1" dirty="0"/>
              <a:t>SHAP </a:t>
            </a:r>
            <a:r>
              <a:rPr lang="ko-KR" altLang="en-US" sz="1400" b="1" dirty="0"/>
              <a:t>분석을 통하여 구매예측 뿐만 아니라 </a:t>
            </a:r>
            <a:r>
              <a:rPr lang="en-US" altLang="ko-KR" sz="1400" b="1" dirty="0"/>
              <a:t>‘</a:t>
            </a:r>
            <a:r>
              <a:rPr lang="ko-KR" altLang="en-US" sz="1400" b="1" dirty="0"/>
              <a:t>왜 마케팅 적기인가</a:t>
            </a:r>
            <a:r>
              <a:rPr lang="en-US" altLang="ko-KR" sz="1400" b="1" dirty="0"/>
              <a:t>’</a:t>
            </a:r>
            <a:r>
              <a:rPr lang="ko-KR" altLang="en-US" sz="1400" b="1" dirty="0"/>
              <a:t>를 설명할 수 있는 모델 구현</a:t>
            </a:r>
            <a:endParaRPr lang="en-US" altLang="ko-KR" sz="1400" b="1" dirty="0"/>
          </a:p>
          <a:p>
            <a:pPr marL="128573" indent="-128573"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ko-KR" altLang="en-US" sz="1400" b="1" dirty="0"/>
              <a:t>구매 전환율이 극도로 낮은 </a:t>
            </a:r>
            <a:r>
              <a:rPr lang="en-US" altLang="ko-KR" sz="1400" b="1" dirty="0"/>
              <a:t>CRM</a:t>
            </a:r>
            <a:r>
              <a:rPr lang="ko-KR" altLang="en-US" sz="1400" b="1" dirty="0"/>
              <a:t> 환경에서 도메인 특성을 장착한 모델이 예측성능과 일반화에서 우수하다는 것을 규명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0E4809-778C-4689-D80F-53267DEC53F0}"/>
              </a:ext>
            </a:extLst>
          </p:cNvPr>
          <p:cNvSpPr txBox="1"/>
          <p:nvPr/>
        </p:nvSpPr>
        <p:spPr>
          <a:xfrm>
            <a:off x="471694" y="378018"/>
            <a:ext cx="11720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ko-KR" sz="2000" b="1" dirty="0"/>
              <a:t>고객 구매의 역동성을 밝히다</a:t>
            </a:r>
            <a:r>
              <a:rPr lang="en-US" altLang="ko-KR" sz="2000" b="1" dirty="0"/>
              <a:t>: </a:t>
            </a:r>
            <a:r>
              <a:rPr lang="ko-KR" altLang="ko-KR" sz="2000" b="1" dirty="0"/>
              <a:t>딥러닝 시대에 데이터 희소성을 극복하는 마케팅 지식 주도 특성 공학 </a:t>
            </a:r>
            <a:endParaRPr lang="ko-KR" altLang="ko-KR" sz="20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99E4DAA-0E88-A245-234D-E12C8CB6DA6F}"/>
              </a:ext>
            </a:extLst>
          </p:cNvPr>
          <p:cNvSpPr/>
          <p:nvPr/>
        </p:nvSpPr>
        <p:spPr>
          <a:xfrm>
            <a:off x="354957" y="1017180"/>
            <a:ext cx="11509094" cy="4060891"/>
          </a:xfrm>
          <a:prstGeom prst="roundRect">
            <a:avLst>
              <a:gd name="adj" fmla="val 324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8"/>
          </a:p>
        </p:txBody>
      </p:sp>
    </p:spTree>
    <p:extLst>
      <p:ext uri="{BB962C8B-B14F-4D97-AF65-F5344CB8AC3E}">
        <p14:creationId xmlns:p14="http://schemas.microsoft.com/office/powerpoint/2010/main" val="289692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714</TotalTime>
  <Words>742</Words>
  <Application>Microsoft Office PowerPoint</Application>
  <PresentationFormat>와이드스크린</PresentationFormat>
  <Paragraphs>142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준형 이</dc:creator>
  <cp:lastModifiedBy>Kyungwon Kim</cp:lastModifiedBy>
  <cp:revision>66</cp:revision>
  <dcterms:created xsi:type="dcterms:W3CDTF">2026-01-16T08:07:40Z</dcterms:created>
  <dcterms:modified xsi:type="dcterms:W3CDTF">2026-01-26T13:51:52Z</dcterms:modified>
</cp:coreProperties>
</file>