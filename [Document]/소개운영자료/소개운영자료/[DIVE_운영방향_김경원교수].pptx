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73" r:id="rId2"/>
    <p:sldId id="375" r:id="rId3"/>
    <p:sldId id="376" r:id="rId4"/>
    <p:sldId id="377" r:id="rId5"/>
    <p:sldId id="379" r:id="rId6"/>
    <p:sldId id="380" r:id="rId7"/>
    <p:sldId id="381" r:id="rId8"/>
    <p:sldId id="382" r:id="rId9"/>
    <p:sldId id="372" r:id="rId10"/>
    <p:sldId id="367" r:id="rId11"/>
    <p:sldId id="370" r:id="rId12"/>
    <p:sldId id="371" r:id="rId13"/>
    <p:sldId id="369" r:id="rId14"/>
    <p:sldId id="365" r:id="rId15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05" roundtripDataSignature="AMtx7miUWwlRzSp7FmXEzuK0I58SVnB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742053-E664-4C57-AEBF-A2CFF378C27F}">
  <a:tblStyle styleId="{0F742053-E664-4C57-AEBF-A2CFF378C27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F0A71B-DF51-430A-86BD-894545E53AB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8F0"/>
          </a:solidFill>
        </a:fill>
      </a:tcStyle>
    </a:wholeTbl>
    <a:band1H>
      <a:tcTxStyle/>
      <a:tcStyle>
        <a:tcBdr/>
        <a:fill>
          <a:solidFill>
            <a:srgbClr val="CACFD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FD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6" autoAdjust="0"/>
    <p:restoredTop sz="90423" autoAdjust="0"/>
  </p:normalViewPr>
  <p:slideViewPr>
    <p:cSldViewPr snapToGrid="0">
      <p:cViewPr varScale="1">
        <p:scale>
          <a:sx n="83" d="100"/>
          <a:sy n="83" d="100"/>
        </p:scale>
        <p:origin x="1008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1268" y="104"/>
      </p:cViewPr>
      <p:guideLst>
        <p:guide orient="horz" pos="2880"/>
        <p:guide pos="2160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0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05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65469B5-8E34-4E50-B740-37EF9223D2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712574-5E75-4261-B839-82DEFF414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758C4-0839-4DFD-B23C-C4B0E1666FA8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A01415-B482-4F4D-9407-5E5120E718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E47CE7-3EA3-4C86-B438-5849285101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A0B07-F7AB-4333-9DE8-902ADF793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3837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4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220475B2-B676-AD2C-4943-EA4B1432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2DA4CCD5-D5C3-1ED4-C48A-4B40D46CA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BBA2AB30-D2C7-3CEF-CC3F-B4E907208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5351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BF619FC2-4EA6-45E3-EF4F-E1B2D25E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9DFA6EEB-BAC6-B38E-16EA-3E6EFBF10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8DCF8AF6-6ED8-95AE-36EE-A9A6B6283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784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F0E593AE-8CAF-AC5B-1697-D91C2D7D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92608E2C-2F91-85BC-14D3-141BC5A23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6827DC40-C726-D5DB-630C-2D029B18A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337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75570233-F1D5-2653-FA37-BC8A15B6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31B18980-FEAC-80C0-009F-5369A9869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0E812486-D0C4-1B69-6C61-2CA196936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4385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0F60FE0A-30A6-4CBE-781E-AEEE4E7B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7972C10D-EB67-CFC0-087C-C1355854F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2CFE4079-D715-E512-9EE2-836D82F48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773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CDDC3676-0E53-4164-24E2-94F6E3AA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88D84E6F-EFB2-CCFE-506C-DFEF68755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75514081-23B6-E23E-1ECA-B8B8EAB84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4071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0533F055-EA84-182F-E478-73C36BE2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D75BD517-B36B-6B6C-16C7-B8C726831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88399FF9-6B36-FCFD-7F8E-1B8162C7E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1059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A5215033-22E5-0819-BED0-32B91A67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93FBE6CB-3DB1-65A4-E5A5-991031B13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0327861A-9E56-0AEB-9D3B-9E1D89292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7898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BAE1EF43-5B23-1754-FDCC-F8942711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19D6380E-D328-EF88-18E2-88AEB2BC9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A7A79743-D0B7-43E1-C3B1-0E1D3A32A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088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6D995013-4226-2582-4E70-CEB26ABB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D67D3314-E025-F744-6602-8EB9E20FD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399546D5-2311-8373-EDBE-7DAB34128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987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04BE0B2B-387D-11A5-A011-54F82192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46FB8681-2539-0413-9185-44979CECD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EB9ACB1E-D913-4C42-081A-DECA6B131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1335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8B3C8F36-5234-930E-719A-F80CF2E18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1C951375-4387-FC68-4DF3-4693A606F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692FF73E-6277-B34C-86F2-0A63282E3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63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38886A70-0C8E-0B6E-B3CD-6AB75C59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098D23DC-CC4D-0196-5523-67666CC55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2AF9D8C2-DC04-CCD7-4C37-BD6BE189B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0662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5323562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1;p11">
            <a:extLst>
              <a:ext uri="{FF2B5EF4-FFF2-40B4-BE49-F238E27FC236}">
                <a16:creationId xmlns:a16="http://schemas.microsoft.com/office/drawing/2014/main" id="{51232039-1D42-424B-BCD5-17B75DB3DC0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665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57" y="237995"/>
            <a:ext cx="767089" cy="76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2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>
  <p:cSld name="본문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4B3271A3-57E1-4EBB-8B03-60F822F6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3001" y="6447522"/>
            <a:ext cx="718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F5A3-DAD3-49E7-B926-6F61E4EB127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37</a:t>
            </a:r>
            <a:endParaRPr lang="ko-KR" altLang="en-US" dirty="0"/>
          </a:p>
        </p:txBody>
      </p:sp>
      <p:pic>
        <p:nvPicPr>
          <p:cNvPr id="1026" name="Picture 2" descr="Incheon National University">
            <a:extLst>
              <a:ext uri="{FF2B5EF4-FFF2-40B4-BE49-F238E27FC236}">
                <a16:creationId xmlns:a16="http://schemas.microsoft.com/office/drawing/2014/main" id="{67AC1A50-49EF-4B80-B4BC-4DE794D69D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E48C931-5A5E-4520-87FC-715A28FEF557}"/>
              </a:ext>
            </a:extLst>
          </p:cNvPr>
          <p:cNvSpPr txBox="1">
            <a:spLocks/>
          </p:cNvSpPr>
          <p:nvPr userDrawn="1"/>
        </p:nvSpPr>
        <p:spPr>
          <a:xfrm>
            <a:off x="44671" y="6446170"/>
            <a:ext cx="1301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dirty="0"/>
              <a:t>Kyungwon</a:t>
            </a:r>
            <a:r>
              <a:rPr lang="ko-KR" altLang="en-US" dirty="0"/>
              <a:t> </a:t>
            </a:r>
            <a:r>
              <a:rPr lang="en-US" altLang="ko-KR" dirty="0"/>
              <a:t>Kim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6_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2"/>
          <p:cNvSpPr txBox="1"/>
          <p:nvPr/>
        </p:nvSpPr>
        <p:spPr>
          <a:xfrm>
            <a:off x="4256048" y="6498147"/>
            <a:ext cx="66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r>
              <a:rPr lang="en-US" sz="12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/ 47</a:t>
            </a:r>
            <a:endParaRPr sz="2400" b="0" i="0" u="none" strike="noStrike" cap="none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A4293-BEFB-4D6F-8696-D4A57B20003E}"/>
              </a:ext>
            </a:extLst>
          </p:cNvPr>
          <p:cNvSpPr txBox="1"/>
          <p:nvPr userDrawn="1"/>
        </p:nvSpPr>
        <p:spPr>
          <a:xfrm>
            <a:off x="6263" y="6504485"/>
            <a:ext cx="1637797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altLang="ko-KR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Kyungwon Kim</a:t>
            </a:r>
            <a:endParaRPr lang="en-US" altLang="ko-KR"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6" descr="No photo description available.">
            <a:extLst>
              <a:ext uri="{FF2B5EF4-FFF2-40B4-BE49-F238E27FC236}">
                <a16:creationId xmlns:a16="http://schemas.microsoft.com/office/drawing/2014/main" id="{50AD2A6C-B0A4-4A54-ACFD-982D2E56D98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1" t="9393" r="20368" b="58337"/>
          <a:stretch/>
        </p:blipFill>
        <p:spPr bwMode="auto">
          <a:xfrm>
            <a:off x="7357734" y="6456807"/>
            <a:ext cx="1611126" cy="33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41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끝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329;p25">
            <a:extLst>
              <a:ext uri="{FF2B5EF4-FFF2-40B4-BE49-F238E27FC236}">
                <a16:creationId xmlns:a16="http://schemas.microsoft.com/office/drawing/2014/main" id="{5AED18BC-03E3-4116-93FD-57168EE9BD3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2273" b="23493"/>
          <a:stretch/>
        </p:blipFill>
        <p:spPr>
          <a:xfrm>
            <a:off x="2412000" y="4885764"/>
            <a:ext cx="4320000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30;p25">
            <a:extLst>
              <a:ext uri="{FF2B5EF4-FFF2-40B4-BE49-F238E27FC236}">
                <a16:creationId xmlns:a16="http://schemas.microsoft.com/office/drawing/2014/main" id="{0FA726C6-126F-45B9-8A60-392294CADA37}"/>
              </a:ext>
            </a:extLst>
          </p:cNvPr>
          <p:cNvSpPr txBox="1"/>
          <p:nvPr userDrawn="1"/>
        </p:nvSpPr>
        <p:spPr>
          <a:xfrm>
            <a:off x="441189" y="2694838"/>
            <a:ext cx="8261622" cy="63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8125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alibri"/>
              <a:buNone/>
            </a:pP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THANK</a:t>
            </a:r>
            <a:r>
              <a:rPr lang="ko-KR" altLang="en-US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sz="32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" descr="Incheon National University">
            <a:extLst>
              <a:ext uri="{FF2B5EF4-FFF2-40B4-BE49-F238E27FC236}">
                <a16:creationId xmlns:a16="http://schemas.microsoft.com/office/drawing/2014/main" id="{48921185-2237-4DA4-9539-F7ECAC1B1E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65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>
  <p:cSld name="끝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p13">
            <a:extLst>
              <a:ext uri="{FF2B5EF4-FFF2-40B4-BE49-F238E27FC236}">
                <a16:creationId xmlns:a16="http://schemas.microsoft.com/office/drawing/2014/main" id="{70552551-A7B4-403E-B6E6-6C578B4CB8E7}"/>
              </a:ext>
            </a:extLst>
          </p:cNvPr>
          <p:cNvSpPr/>
          <p:nvPr userDrawn="1"/>
        </p:nvSpPr>
        <p:spPr>
          <a:xfrm>
            <a:off x="3835400" y="0"/>
            <a:ext cx="5308600" cy="6858000"/>
          </a:xfrm>
          <a:prstGeom prst="rect">
            <a:avLst/>
          </a:prstGeom>
          <a:gradFill>
            <a:gsLst>
              <a:gs pos="0">
                <a:srgbClr val="002C63"/>
              </a:gs>
              <a:gs pos="50000">
                <a:srgbClr val="004090"/>
              </a:gs>
              <a:gs pos="100000">
                <a:srgbClr val="004DAD"/>
              </a:gs>
            </a:gsLst>
            <a:lin ang="18900000" scaled="0"/>
          </a:gradFill>
          <a:ln w="12700" cap="flat" cmpd="sng">
            <a:solidFill>
              <a:srgbClr val="0238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6;p13" descr="I:\YISSUE\삼성\그래픽 모티브\아이콘\브랜딩4-1(아이콘)-16.png">
            <a:extLst>
              <a:ext uri="{FF2B5EF4-FFF2-40B4-BE49-F238E27FC236}">
                <a16:creationId xmlns:a16="http://schemas.microsoft.com/office/drawing/2014/main" id="{C7A23493-641B-4659-85D0-B93D41F8497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656"/>
          <a:stretch/>
        </p:blipFill>
        <p:spPr>
          <a:xfrm>
            <a:off x="3835400" y="-2"/>
            <a:ext cx="5308600" cy="685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7;p13">
            <a:extLst>
              <a:ext uri="{FF2B5EF4-FFF2-40B4-BE49-F238E27FC236}">
                <a16:creationId xmlns:a16="http://schemas.microsoft.com/office/drawing/2014/main" id="{20189312-7A10-49BE-B7ED-FEE9D6740BA6}"/>
              </a:ext>
            </a:extLst>
          </p:cNvPr>
          <p:cNvCxnSpPr/>
          <p:nvPr userDrawn="1"/>
        </p:nvCxnSpPr>
        <p:spPr>
          <a:xfrm>
            <a:off x="0" y="1417973"/>
            <a:ext cx="234315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29;p13">
            <a:extLst>
              <a:ext uri="{FF2B5EF4-FFF2-40B4-BE49-F238E27FC236}">
                <a16:creationId xmlns:a16="http://schemas.microsoft.com/office/drawing/2014/main" id="{81D7D377-02C3-408B-AB85-76B76549493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0573" t="22273" r="7872" b="23493"/>
          <a:stretch/>
        </p:blipFill>
        <p:spPr>
          <a:xfrm>
            <a:off x="161365" y="5118847"/>
            <a:ext cx="3523129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0;p13">
            <a:extLst>
              <a:ext uri="{FF2B5EF4-FFF2-40B4-BE49-F238E27FC236}">
                <a16:creationId xmlns:a16="http://schemas.microsoft.com/office/drawing/2014/main" id="{289E2C37-BA8C-40A9-9BB0-E870A95D78BA}"/>
              </a:ext>
            </a:extLst>
          </p:cNvPr>
          <p:cNvSpPr txBox="1"/>
          <p:nvPr userDrawn="1"/>
        </p:nvSpPr>
        <p:spPr>
          <a:xfrm>
            <a:off x="4363454" y="3167390"/>
            <a:ext cx="449981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8C90C9FE-6D18-47E2-BD91-7BD737A7A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100220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80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0" r:id="rId3"/>
    <p:sldLayoutId id="2147483662" r:id="rId4"/>
    <p:sldLayoutId id="2147483661" r:id="rId5"/>
    <p:sldLayoutId id="214748366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Tutorial-Probability-Statistics-Algorithm-DataScience" TargetMode="External"/><Relationship Id="rId7" Type="http://schemas.openxmlformats.org/officeDocument/2006/relationships/hyperlink" Target="https://www.youtube.com/playlist?list=PLYP0LH6y1TM6H3o82V-vDqQ7DbiRLJf4J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playlist?list=PLYP0LH6y1TM4P3HMNM3JQ8MFx8z6nLo9O" TargetMode="External"/><Relationship Id="rId5" Type="http://schemas.openxmlformats.org/officeDocument/2006/relationships/hyperlink" Target="https://github.com/thekimk/Tutorial-Python-Programming" TargetMode="External"/><Relationship Id="rId4" Type="http://schemas.openxmlformats.org/officeDocument/2006/relationships/hyperlink" Target="https://www.youtube.com/playlist?list=PLYP0LH6y1TM4DOvCt0BhJhxXjCniU4-_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All-About-Machine-Learn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playlist?list=PLYP0LH6y1TM50-9XqZfI2bbIOXCxYLauH" TargetMode="External"/><Relationship Id="rId4" Type="http://schemas.openxmlformats.org/officeDocument/2006/relationships/hyperlink" Target="https://www.youtube.com/playlist?list=PLYP0LH6y1TM6Khh6_ydAPoC9Fj4H_Vp-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All-About-Deep-Learn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playlist?list=PLYP0LH6y1TM77hdoLW5W5IdvQpk20UK5W" TargetMode="External"/><Relationship Id="rId5" Type="http://schemas.openxmlformats.org/officeDocument/2006/relationships/hyperlink" Target="https://github.com/thekimk/All-About-Time-Series-Analysis" TargetMode="External"/><Relationship Id="rId4" Type="http://schemas.openxmlformats.org/officeDocument/2006/relationships/hyperlink" Target="https://youtube.com/playlist?list=PLYP0LH6y1TM6s-bdE1Og3U6_SnV6CsqwJ&amp;si=o1BDtamwTK9are_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github.com/thekimk/Lecture-NIA/tree/main/Data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dis.kostat.go.kr/dwnlSvc/ofrSurvSearch.do?curMenuNo=UI_POR_P9240" TargetMode="External"/><Relationship Id="rId5" Type="http://schemas.openxmlformats.org/officeDocument/2006/relationships/hyperlink" Target="https://github.com/thekimk/Lecture-NIA/blob/main/Data/df_concat_BA1.csv" TargetMode="External"/><Relationship Id="rId4" Type="http://schemas.openxmlformats.org/officeDocument/2006/relationships/hyperlink" Target="https://github.com/thekimk/Lecture-NIA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EC07AA73-8CF4-F821-D7BF-E7DE7DCD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8BFDE12B-E9C1-870D-F9F2-0962FDE1FD5E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AB8AF68A-5E89-30E3-E790-A5CE7C4139E1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065B86-9152-D394-5604-DB9BE90DD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0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46AA2263-11A2-5CA4-720F-7FBD2E9EC014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42F04555-F346-F85D-7F51-92842D372BE1}"/>
              </a:ext>
            </a:extLst>
          </p:cNvPr>
          <p:cNvSpPr txBox="1"/>
          <p:nvPr/>
        </p:nvSpPr>
        <p:spPr>
          <a:xfrm>
            <a:off x="38160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3Q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75EB9B93-BB38-F4DA-68E3-9F14FB9393C2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6B4DB158-0EA2-D061-594B-B28E5FD1A0D5}"/>
              </a:ext>
            </a:extLst>
          </p:cNvPr>
          <p:cNvGrpSpPr/>
          <p:nvPr/>
        </p:nvGrpSpPr>
        <p:grpSpPr>
          <a:xfrm>
            <a:off x="231276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3146DF71-00E7-3742-C99F-5EE07B180A31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56FB0413-6CDE-0BB7-03E7-8CC722A6ADD1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41956D5F-83F6-BB88-B0DB-EEE2D9F12232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7EA36589-2683-7C04-C93C-D5A775E7AAB8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4Q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359A7558-4A8F-E46F-9381-59B39FDA85EA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A7E91FC0-6CBC-8CBF-3816-C721318A3D99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A25EB800-5657-72DE-F6FC-7488847AA3C4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431FDFAC-9B93-C1AD-C930-A7B00848EA99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C25BE077-11B2-D10B-BEA7-07EF1F291D37}"/>
              </a:ext>
            </a:extLst>
          </p:cNvPr>
          <p:cNvSpPr txBox="1"/>
          <p:nvPr/>
        </p:nvSpPr>
        <p:spPr>
          <a:xfrm>
            <a:off x="479748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1Q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B84B2EF3-1323-3BD4-235C-1D5EEC0E72DE}"/>
              </a:ext>
            </a:extLst>
          </p:cNvPr>
          <p:cNvGrpSpPr/>
          <p:nvPr/>
        </p:nvGrpSpPr>
        <p:grpSpPr>
          <a:xfrm>
            <a:off x="4647156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04610316-B86B-F727-DB3D-82CCFAD74955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전문가 방향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기업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사회 주요 문제</a:t>
              </a:r>
              <a:r>
                <a:rPr lang="en-US" altLang="ko-KR" sz="800">
                  <a:cs typeface="Arial" pitchFamily="34" charset="0"/>
                </a:rPr>
                <a:t>(</a:t>
              </a:r>
              <a:r>
                <a:rPr lang="ko-KR" altLang="en-US" sz="800">
                  <a:cs typeface="Arial" pitchFamily="34" charset="0"/>
                </a:rPr>
                <a:t>공모전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논문 등</a:t>
              </a:r>
              <a:r>
                <a:rPr lang="en-US" altLang="ko-KR" sz="80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본인 진로 방향 교집합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문제의 가설 변환</a:t>
              </a:r>
              <a:endParaRPr lang="en-US" altLang="ko-KR" sz="80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데이터</a:t>
              </a:r>
              <a:r>
                <a:rPr lang="en-US" altLang="ko-KR" sz="800" b="1">
                  <a:cs typeface="Arial" pitchFamily="34" charset="0"/>
                </a:rPr>
                <a:t> </a:t>
              </a:r>
              <a:r>
                <a:rPr lang="ko-KR" altLang="en-US" sz="800" b="1">
                  <a:cs typeface="Arial" pitchFamily="34" charset="0"/>
                </a:rPr>
                <a:t>해결 전략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가설의 데이터 문제로 변환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>
                  <a:cs typeface="Arial" pitchFamily="34" charset="0"/>
                </a:rPr>
                <a:t>AI as a Service </a:t>
              </a:r>
              <a:r>
                <a:rPr lang="ko-KR" altLang="en-US" sz="800">
                  <a:cs typeface="Arial" pitchFamily="34" charset="0"/>
                </a:rPr>
                <a:t>적용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02F5803E-657D-7AFA-00EC-EDD4F1768FC0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A6184BB1-44B5-5D7B-846F-0D2098CF4F25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6906C51A-D829-F0F9-5AF9-789C686C04A1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2Q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FE140407-AE53-3C02-6F17-4ACEA9256DCB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BB316F6F-017B-6C38-CB44-223D6376D835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확장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 집중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공모전 수상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논문 발행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특허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창업 계획 전략</a:t>
              </a:r>
              <a:endParaRPr lang="en-US" altLang="ko-KR" sz="800">
                <a:cs typeface="Arial" pitchFamily="34" charset="0"/>
              </a:endParaRPr>
            </a:p>
            <a:p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적극적 브랜딩 피드백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인공지능기반의사결정 학점화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산출물 완성 및 전문가 포트폴리오화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89A0B943-5BF4-6283-A649-D39F8AE62EDC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12A1AABD-A483-9CC2-F3A2-1798C9033419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6A9E3670-BB05-83F8-D299-851B591F3F7B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E539D99E-0216-5888-8D68-C00527F9F540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534;p39">
            <a:extLst>
              <a:ext uri="{FF2B5EF4-FFF2-40B4-BE49-F238E27FC236}">
                <a16:creationId xmlns:a16="http://schemas.microsoft.com/office/drawing/2014/main" id="{CD14EFDB-FEB3-D363-8AF9-B8CC0E05BC5F}"/>
              </a:ext>
            </a:extLst>
          </p:cNvPr>
          <p:cNvSpPr txBox="1"/>
          <p:nvPr/>
        </p:nvSpPr>
        <p:spPr>
          <a:xfrm>
            <a:off x="594703" y="5581671"/>
            <a:ext cx="7954483" cy="4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altLang="ko-KR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* </a:t>
            </a:r>
            <a:r>
              <a:rPr lang="ko-KR" altLang="en-US" sz="1600" b="1" i="0" u="sng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기존 기수들은 </a:t>
            </a:r>
            <a:r>
              <a:rPr lang="en-US" altLang="ko-KR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Brand Diving </a:t>
            </a:r>
            <a:r>
              <a:rPr lang="ko-KR" altLang="en-US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후 필요에 따라 </a:t>
            </a:r>
            <a:r>
              <a:rPr lang="en-US" altLang="ko-KR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Study/Project Diving </a:t>
            </a:r>
            <a:r>
              <a:rPr lang="ko-KR" altLang="en-US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진행</a:t>
            </a:r>
            <a:r>
              <a:rPr lang="en-US" altLang="ko-KR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rPr>
              <a:t> *</a:t>
            </a:r>
            <a:endParaRPr sz="1600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071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E2CFEB9F-0CC2-0CB8-ABA7-FE04BF15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06299D73-6A8E-EB43-5694-07376E0BF416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C2BA1021-9067-7094-F277-F6692881890C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0E1D32C-2688-AA50-6A27-9BE0B852A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1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01ECB338-CBB8-31B0-7745-7165D89E7472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3EE92916-CA53-00C6-D6A8-C71202CAC72F}"/>
              </a:ext>
            </a:extLst>
          </p:cNvPr>
          <p:cNvSpPr txBox="1"/>
          <p:nvPr/>
        </p:nvSpPr>
        <p:spPr>
          <a:xfrm>
            <a:off x="38160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3Q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68D2E100-A3B5-AC70-C9EA-197C154BC36D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EBE778A3-3A71-E54C-3C87-FA1E17CDA366}"/>
              </a:ext>
            </a:extLst>
          </p:cNvPr>
          <p:cNvGrpSpPr/>
          <p:nvPr/>
        </p:nvGrpSpPr>
        <p:grpSpPr>
          <a:xfrm>
            <a:off x="231276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EBA90073-3548-17A9-30D4-11C3F10559CA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DBD06A9D-3271-1FA8-FC7A-B5A8B38AF257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BB574732-3FA9-6ACC-92FF-BBD768BBDBB0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2D804B34-4C26-8FB1-FA50-96031F4D681B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4Q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98C6C1BE-4D0C-3447-B62F-5D4EDEA51261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C51720A9-E4A1-8FCF-4E82-416B17AD9E51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73452CB2-4AB8-0F5E-06C4-FDFBBFF0D00A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1724AEB9-ABBA-F562-1793-AD32509FFB72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A23F8A5B-E8F6-609F-B4AC-F6D0FAA5F4F4}"/>
              </a:ext>
            </a:extLst>
          </p:cNvPr>
          <p:cNvSpPr txBox="1"/>
          <p:nvPr/>
        </p:nvSpPr>
        <p:spPr>
          <a:xfrm>
            <a:off x="479748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1Q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98E7B73A-5CC4-90D3-1CED-A259183121C0}"/>
              </a:ext>
            </a:extLst>
          </p:cNvPr>
          <p:cNvGrpSpPr/>
          <p:nvPr/>
        </p:nvGrpSpPr>
        <p:grpSpPr>
          <a:xfrm>
            <a:off x="4647156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2D3A978B-6F9A-8099-AEC0-4043BF8A0F63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전문가 방향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기업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사회 주요 문제</a:t>
              </a:r>
              <a:r>
                <a:rPr lang="en-US" altLang="ko-KR" sz="800">
                  <a:cs typeface="Arial" pitchFamily="34" charset="0"/>
                </a:rPr>
                <a:t>(</a:t>
              </a:r>
              <a:r>
                <a:rPr lang="ko-KR" altLang="en-US" sz="800">
                  <a:cs typeface="Arial" pitchFamily="34" charset="0"/>
                </a:rPr>
                <a:t>공모전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논문 등</a:t>
              </a:r>
              <a:r>
                <a:rPr lang="en-US" altLang="ko-KR" sz="80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본인 진로 방향 교집합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문제의 가설 변환</a:t>
              </a:r>
              <a:endParaRPr lang="en-US" altLang="ko-KR" sz="80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데이터</a:t>
              </a:r>
              <a:r>
                <a:rPr lang="en-US" altLang="ko-KR" sz="800" b="1">
                  <a:cs typeface="Arial" pitchFamily="34" charset="0"/>
                </a:rPr>
                <a:t> </a:t>
              </a:r>
              <a:r>
                <a:rPr lang="ko-KR" altLang="en-US" sz="800" b="1">
                  <a:cs typeface="Arial" pitchFamily="34" charset="0"/>
                </a:rPr>
                <a:t>해결 전략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가설의 데이터 문제로 변환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>
                  <a:cs typeface="Arial" pitchFamily="34" charset="0"/>
                </a:rPr>
                <a:t>AI as a Service </a:t>
              </a:r>
              <a:r>
                <a:rPr lang="ko-KR" altLang="en-US" sz="800">
                  <a:cs typeface="Arial" pitchFamily="34" charset="0"/>
                </a:rPr>
                <a:t>적용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2705B1BE-25F8-E148-F9A9-D88159DE9563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9D0ADA53-C3E9-3CA3-1F30-05E5FE0756D9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DF4874D1-C779-46C8-FABE-CA6B170E4A83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2Q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412543D4-5245-99CA-358C-49ED6FB1270A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B73A25EC-76F1-79B3-325A-53DE671D3341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확장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 집중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공모전 수상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논문 발행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특허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창업 계획 전략</a:t>
              </a:r>
              <a:endParaRPr lang="en-US" altLang="ko-KR" sz="800">
                <a:cs typeface="Arial" pitchFamily="34" charset="0"/>
              </a:endParaRPr>
            </a:p>
            <a:p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적극적 브랜딩 피드백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인공지능기반의사결정 학점화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산출물 완성 및 전문가 포트폴리오화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1B0E31C1-35A5-E050-4E90-83720E3464B6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2B6FAF3B-B34C-0ABD-3C46-D1610B826827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5F64BF83-339A-4156-997B-E52F300C726F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A04D8BF6-B635-DEF1-05DA-478C7D592F51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534;p39">
            <a:extLst>
              <a:ext uri="{FF2B5EF4-FFF2-40B4-BE49-F238E27FC236}">
                <a16:creationId xmlns:a16="http://schemas.microsoft.com/office/drawing/2014/main" id="{54E68F1B-335D-5AA8-F5E3-729730CF9D81}"/>
              </a:ext>
            </a:extLst>
          </p:cNvPr>
          <p:cNvSpPr txBox="1"/>
          <p:nvPr/>
        </p:nvSpPr>
        <p:spPr>
          <a:xfrm>
            <a:off x="594703" y="5581671"/>
            <a:ext cx="7954483" cy="4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* </a:t>
            </a:r>
            <a:r>
              <a:rPr lang="ko-KR" altLang="en-US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왜 기존 스펙으로 부족한가</a:t>
            </a: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??? *</a:t>
            </a:r>
          </a:p>
          <a:p>
            <a:pPr lvl="0" algn="ctr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ko-KR" altLang="en-US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남들 다하는 타이타닉 예측의 뻔한 토이 분석은 누구나 하니까</a:t>
            </a: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… + AI</a:t>
            </a:r>
            <a:r>
              <a:rPr lang="ko-KR" altLang="en-US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보다 못하니까</a:t>
            </a: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6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4E58B16-083A-E86C-7CE0-BFE3FF1B46F6}"/>
              </a:ext>
            </a:extLst>
          </p:cNvPr>
          <p:cNvSpPr/>
          <p:nvPr/>
        </p:nvSpPr>
        <p:spPr>
          <a:xfrm>
            <a:off x="38450" y="1587482"/>
            <a:ext cx="2409932" cy="399418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56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16EE0471-CD23-45A2-5C26-FC84F004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63B15A38-FB6D-1B33-1E22-640DB7483F52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CD6A2FBA-C157-0846-9914-68C27AA42D0B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821229-BA24-3ED9-0DA3-157F23A8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26025EDB-BFB0-6542-21D8-383BABC82494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7D9A5CF9-0982-2BDD-FEE0-B3841408E3AC}"/>
              </a:ext>
            </a:extLst>
          </p:cNvPr>
          <p:cNvSpPr txBox="1"/>
          <p:nvPr/>
        </p:nvSpPr>
        <p:spPr>
          <a:xfrm>
            <a:off x="38160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3Q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C62CD5ED-9CFF-6031-33E2-87D5DF6099B1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6D4DECBC-7DD2-A80E-15C2-794408AFAAAD}"/>
              </a:ext>
            </a:extLst>
          </p:cNvPr>
          <p:cNvGrpSpPr/>
          <p:nvPr/>
        </p:nvGrpSpPr>
        <p:grpSpPr>
          <a:xfrm>
            <a:off x="231276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FA02E932-F8B7-AB8C-CB09-DE56EE4DDA76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02DC2D30-F6B6-F735-649C-A2788BD32A23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D9082EDC-1449-CB42-B332-9C6A13219788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0CE7A87E-E16B-08F2-3128-09FC118E3AFD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4Q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5E5CB3AB-7AC8-2A72-7C75-B955F27FE1A1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17D0A0F5-6297-44E9-33F1-792AAB067540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88C9D94E-F602-32DB-576D-4D09DA794377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45E90566-67A3-67C5-C996-3BBA08403C52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584F24BE-98EB-8337-0AB0-1FD0BC0F0BDF}"/>
              </a:ext>
            </a:extLst>
          </p:cNvPr>
          <p:cNvSpPr txBox="1"/>
          <p:nvPr/>
        </p:nvSpPr>
        <p:spPr>
          <a:xfrm>
            <a:off x="479748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1Q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41DDADD5-5FA1-9693-121C-71DA7F41D4B0}"/>
              </a:ext>
            </a:extLst>
          </p:cNvPr>
          <p:cNvGrpSpPr/>
          <p:nvPr/>
        </p:nvGrpSpPr>
        <p:grpSpPr>
          <a:xfrm>
            <a:off x="4647156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E5455EEA-6945-F12B-9ED7-A94D1F554D54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전문가 방향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기업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사회 주요 문제</a:t>
              </a:r>
              <a:r>
                <a:rPr lang="en-US" altLang="ko-KR" sz="800">
                  <a:cs typeface="Arial" pitchFamily="34" charset="0"/>
                </a:rPr>
                <a:t>(</a:t>
              </a:r>
              <a:r>
                <a:rPr lang="ko-KR" altLang="en-US" sz="800">
                  <a:cs typeface="Arial" pitchFamily="34" charset="0"/>
                </a:rPr>
                <a:t>공모전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논문 등</a:t>
              </a:r>
              <a:r>
                <a:rPr lang="en-US" altLang="ko-KR" sz="80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본인 진로 방향 교집합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문제의 가설 변환</a:t>
              </a:r>
              <a:endParaRPr lang="en-US" altLang="ko-KR" sz="80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데이터</a:t>
              </a:r>
              <a:r>
                <a:rPr lang="en-US" altLang="ko-KR" sz="800" b="1">
                  <a:cs typeface="Arial" pitchFamily="34" charset="0"/>
                </a:rPr>
                <a:t> </a:t>
              </a:r>
              <a:r>
                <a:rPr lang="ko-KR" altLang="en-US" sz="800" b="1">
                  <a:cs typeface="Arial" pitchFamily="34" charset="0"/>
                </a:rPr>
                <a:t>해결 전략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가설의 데이터 문제로 변환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>
                  <a:cs typeface="Arial" pitchFamily="34" charset="0"/>
                </a:rPr>
                <a:t>AI as a Service </a:t>
              </a:r>
              <a:r>
                <a:rPr lang="ko-KR" altLang="en-US" sz="800">
                  <a:cs typeface="Arial" pitchFamily="34" charset="0"/>
                </a:rPr>
                <a:t>적용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78BA955A-7921-F74D-DC79-88959146171C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2A9905C9-6D79-D887-D7D4-74487FF0F8D2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029DB612-4173-9ABD-FAB9-AEED42682EEB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2Q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27929AB2-A140-AF45-F846-8E3E3B108D1C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A20E84C0-6AF7-D75F-430E-9AB3B9DBDDE7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확장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 집중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공모전 수상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논문 발행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특허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창업 계획 전략</a:t>
              </a:r>
              <a:endParaRPr lang="en-US" altLang="ko-KR" sz="800">
                <a:cs typeface="Arial" pitchFamily="34" charset="0"/>
              </a:endParaRPr>
            </a:p>
            <a:p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적극적 브랜딩 피드백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인공지능기반의사결정 학점화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산출물 완성 및 전문가 포트폴리오화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D1C1AE84-D849-E4F4-BF19-7C13C557261D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B8F0B979-881F-86FA-3376-2BD444C3C4F1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11392B5F-6C80-029D-40A4-3F59635CBD39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54956E41-EE99-2FD9-4454-4C48F721F878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534;p39">
            <a:extLst>
              <a:ext uri="{FF2B5EF4-FFF2-40B4-BE49-F238E27FC236}">
                <a16:creationId xmlns:a16="http://schemas.microsoft.com/office/drawing/2014/main" id="{6A5471EA-8FC9-722F-F57B-2AF46D885F7D}"/>
              </a:ext>
            </a:extLst>
          </p:cNvPr>
          <p:cNvSpPr txBox="1"/>
          <p:nvPr/>
        </p:nvSpPr>
        <p:spPr>
          <a:xfrm>
            <a:off x="112294" y="5581671"/>
            <a:ext cx="8919302" cy="4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* </a:t>
            </a:r>
            <a:r>
              <a:rPr lang="ko-KR" altLang="en-US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왜 기존 공부로는 변별력</a:t>
            </a: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/</a:t>
            </a:r>
            <a:r>
              <a:rPr lang="ko-KR" altLang="en-US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경쟁력이 없는가</a:t>
            </a: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??? *</a:t>
            </a:r>
          </a:p>
          <a:p>
            <a:pPr lvl="0" algn="ctr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ko-KR" altLang="en-US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실제 기업</a:t>
            </a: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사회에선 모두 쓸모없는 지식이니까</a:t>
            </a: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.. </a:t>
            </a:r>
            <a:endParaRPr sz="16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3CCB96C-55F9-F163-DEA1-42088FBA44CA}"/>
              </a:ext>
            </a:extLst>
          </p:cNvPr>
          <p:cNvSpPr/>
          <p:nvPr/>
        </p:nvSpPr>
        <p:spPr>
          <a:xfrm>
            <a:off x="2279168" y="1587482"/>
            <a:ext cx="2409932" cy="399418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58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3BB1139E-864B-7DD6-A7B1-FF3B309F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F294DAC3-CB1F-1EED-36CC-5DFB8155945F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4BA6045E-233C-79B1-3C5F-26F7E5741C45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859EFD8-D27B-A349-CA7D-F1780416C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B73246C1-763F-6B39-034C-9A1EE41041A1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5D735DB6-0266-1CD8-29B8-B004115FB97E}"/>
              </a:ext>
            </a:extLst>
          </p:cNvPr>
          <p:cNvSpPr txBox="1"/>
          <p:nvPr/>
        </p:nvSpPr>
        <p:spPr>
          <a:xfrm>
            <a:off x="38160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3Q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922E8BBC-9C65-AC62-D533-42F1B93E1181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E3D8D810-1C7C-BCD5-2307-1EB9EA27E8E1}"/>
              </a:ext>
            </a:extLst>
          </p:cNvPr>
          <p:cNvGrpSpPr/>
          <p:nvPr/>
        </p:nvGrpSpPr>
        <p:grpSpPr>
          <a:xfrm>
            <a:off x="231276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2AE0F57E-8E7F-972D-546F-CBA3ED81F581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B29D9C3F-110F-04A9-967C-DAA926CF0284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DF0C0004-813A-A8C5-BA4F-B4BE74F47440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A5A6DC8B-17E8-6FB8-205A-DBD7B78BF872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4Q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E2437874-288F-BC11-4681-36B08A8275F9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5C721250-D73B-13D8-BAF2-180A2E16346B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A59257D3-8DBA-40C3-7AF1-6AA76B0BE23F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B677D9C4-A299-36E6-E834-A0F4A223F643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0C03E244-21BA-E03D-3922-A0FAF86A341C}"/>
              </a:ext>
            </a:extLst>
          </p:cNvPr>
          <p:cNvSpPr txBox="1"/>
          <p:nvPr/>
        </p:nvSpPr>
        <p:spPr>
          <a:xfrm>
            <a:off x="479748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1Q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62E9E451-08D8-C7CF-01D2-94D211C0FB6E}"/>
              </a:ext>
            </a:extLst>
          </p:cNvPr>
          <p:cNvGrpSpPr/>
          <p:nvPr/>
        </p:nvGrpSpPr>
        <p:grpSpPr>
          <a:xfrm>
            <a:off x="4647156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CA554EC0-C397-2F9B-479D-4A5F5C4591E7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전문가 방향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기업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사회 주요 문제</a:t>
              </a:r>
              <a:r>
                <a:rPr lang="en-US" altLang="ko-KR" sz="800">
                  <a:cs typeface="Arial" pitchFamily="34" charset="0"/>
                </a:rPr>
                <a:t>(</a:t>
              </a:r>
              <a:r>
                <a:rPr lang="ko-KR" altLang="en-US" sz="800">
                  <a:cs typeface="Arial" pitchFamily="34" charset="0"/>
                </a:rPr>
                <a:t>공모전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논문 등</a:t>
              </a:r>
              <a:r>
                <a:rPr lang="en-US" altLang="ko-KR" sz="80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본인 진로 방향 교집합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문제의 가설 변환</a:t>
              </a:r>
              <a:endParaRPr lang="en-US" altLang="ko-KR" sz="80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데이터</a:t>
              </a:r>
              <a:r>
                <a:rPr lang="en-US" altLang="ko-KR" sz="800" b="1">
                  <a:cs typeface="Arial" pitchFamily="34" charset="0"/>
                </a:rPr>
                <a:t> </a:t>
              </a:r>
              <a:r>
                <a:rPr lang="ko-KR" altLang="en-US" sz="800" b="1">
                  <a:cs typeface="Arial" pitchFamily="34" charset="0"/>
                </a:rPr>
                <a:t>해결 전략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가설의 데이터 문제로 변환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>
                  <a:cs typeface="Arial" pitchFamily="34" charset="0"/>
                </a:rPr>
                <a:t>AI as a Service </a:t>
              </a:r>
              <a:r>
                <a:rPr lang="ko-KR" altLang="en-US" sz="800">
                  <a:cs typeface="Arial" pitchFamily="34" charset="0"/>
                </a:rPr>
                <a:t>적용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3CD9ADA4-BCFB-829E-5786-8A3337C1F752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F5A78C42-706A-6407-8D69-622A1D0EA449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7246526F-2712-AB6F-30E3-B2F8E419FA0D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2Q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B538951A-2934-17D6-A7DC-DBD6A76435E6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0FE0BF57-E498-A01C-445A-92559F271832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확장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 집중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공모전 수상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논문 발행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특허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창업 계획 전략</a:t>
              </a:r>
              <a:endParaRPr lang="en-US" altLang="ko-KR" sz="800">
                <a:cs typeface="Arial" pitchFamily="34" charset="0"/>
              </a:endParaRPr>
            </a:p>
            <a:p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적극적 브랜딩 피드백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인공지능기반의사결정 학점화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산출물 완성 및 전문가 포트폴리오화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B41CEA9B-318E-E70A-5644-A6852C89964A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1A04C923-A80A-1A1B-354F-77DAA9207BFF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4E9B0C99-878D-C927-41AE-C410F8379D4A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9AD4DEDE-C60E-80CD-4990-4199938D32F2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534;p39">
            <a:extLst>
              <a:ext uri="{FF2B5EF4-FFF2-40B4-BE49-F238E27FC236}">
                <a16:creationId xmlns:a16="http://schemas.microsoft.com/office/drawing/2014/main" id="{D68241E8-2A9B-A62D-2DAA-E768D351C08A}"/>
              </a:ext>
            </a:extLst>
          </p:cNvPr>
          <p:cNvSpPr txBox="1"/>
          <p:nvPr/>
        </p:nvSpPr>
        <p:spPr>
          <a:xfrm>
            <a:off x="112294" y="5581671"/>
            <a:ext cx="8919302" cy="4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* </a:t>
            </a:r>
            <a:r>
              <a:rPr lang="ko-KR" altLang="en-US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왜 혼자서 현실적인 경쟁력을 기를 수 없는가</a:t>
            </a: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??? *</a:t>
            </a:r>
          </a:p>
          <a:p>
            <a:pPr lvl="0" algn="ctr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ko-KR" altLang="en-US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기존 이슈나 문제를 해결하거나 뛰어넘어 본 경험이 없으니까</a:t>
            </a:r>
            <a:r>
              <a:rPr lang="en-US" altLang="ko-KR" sz="16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6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280AF4C-B6E1-0002-99CA-9990A47ABBCE}"/>
              </a:ext>
            </a:extLst>
          </p:cNvPr>
          <p:cNvSpPr/>
          <p:nvPr/>
        </p:nvSpPr>
        <p:spPr>
          <a:xfrm>
            <a:off x="4466612" y="1587482"/>
            <a:ext cx="2409932" cy="399418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41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DA6B358C-2901-7C07-27F3-29D52624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9490FAE5-3836-6675-2B38-00D4B9776600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E32B4881-AC92-CB78-B74F-0DC54957F18E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50855F-BADE-965D-6B12-200BC7D7B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7C5A9C9F-5CC0-9862-420D-3503881EE1AE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3A462B61-0761-B065-9A1D-E5133697644F}"/>
              </a:ext>
            </a:extLst>
          </p:cNvPr>
          <p:cNvSpPr txBox="1"/>
          <p:nvPr/>
        </p:nvSpPr>
        <p:spPr>
          <a:xfrm>
            <a:off x="38160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3Q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E4F52FE0-DE47-FD31-4DD5-822236214AD8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50E560BB-4ED3-EC3A-85CA-0D2886B935A2}"/>
              </a:ext>
            </a:extLst>
          </p:cNvPr>
          <p:cNvGrpSpPr/>
          <p:nvPr/>
        </p:nvGrpSpPr>
        <p:grpSpPr>
          <a:xfrm>
            <a:off x="231276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427E9B16-270C-3FFE-73E9-532D9A7FEC3B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4FDE75D5-AF32-3CEE-BDE6-DD4B32F5D4A3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E5CFD917-6B26-92D5-E12B-6035528F94B3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B723742F-5AB4-D3CC-A938-062086BBE4BE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4Q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9E999384-67C7-77B7-5215-BDEDF2000001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91075763-AEF8-409E-740E-70459D5DD8A2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3900D405-2A5B-347B-18FF-F5B02FD70450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5385F0DB-BD32-A2B1-1442-71AEFE30C722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95FB7E49-7639-AC3D-5727-E4CBF6E64DE1}"/>
              </a:ext>
            </a:extLst>
          </p:cNvPr>
          <p:cNvSpPr txBox="1"/>
          <p:nvPr/>
        </p:nvSpPr>
        <p:spPr>
          <a:xfrm>
            <a:off x="479748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1Q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890197F9-4062-E410-A910-FDB6978EEF40}"/>
              </a:ext>
            </a:extLst>
          </p:cNvPr>
          <p:cNvGrpSpPr/>
          <p:nvPr/>
        </p:nvGrpSpPr>
        <p:grpSpPr>
          <a:xfrm>
            <a:off x="4647156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6E8AB742-271F-5FD0-DD53-20745693F154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전문가 방향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기업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사회 주요 문제</a:t>
              </a:r>
              <a:r>
                <a:rPr lang="en-US" altLang="ko-KR" sz="800">
                  <a:cs typeface="Arial" pitchFamily="34" charset="0"/>
                </a:rPr>
                <a:t>(</a:t>
              </a:r>
              <a:r>
                <a:rPr lang="ko-KR" altLang="en-US" sz="800">
                  <a:cs typeface="Arial" pitchFamily="34" charset="0"/>
                </a:rPr>
                <a:t>공모전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논문 등</a:t>
              </a:r>
              <a:r>
                <a:rPr lang="en-US" altLang="ko-KR" sz="80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본인 진로 방향 교집합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문제의 가설 변환</a:t>
              </a:r>
              <a:endParaRPr lang="en-US" altLang="ko-KR" sz="80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데이터</a:t>
              </a:r>
              <a:r>
                <a:rPr lang="en-US" altLang="ko-KR" sz="800" b="1">
                  <a:cs typeface="Arial" pitchFamily="34" charset="0"/>
                </a:rPr>
                <a:t> </a:t>
              </a:r>
              <a:r>
                <a:rPr lang="ko-KR" altLang="en-US" sz="800" b="1">
                  <a:cs typeface="Arial" pitchFamily="34" charset="0"/>
                </a:rPr>
                <a:t>해결 전략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가설의 데이터 문제로 변환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>
                  <a:cs typeface="Arial" pitchFamily="34" charset="0"/>
                </a:rPr>
                <a:t>AI as a Service </a:t>
              </a:r>
              <a:r>
                <a:rPr lang="ko-KR" altLang="en-US" sz="800">
                  <a:cs typeface="Arial" pitchFamily="34" charset="0"/>
                </a:rPr>
                <a:t>적용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5A1A31BE-147A-46CE-6C1B-D48A6A44A82B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1FAAC454-ADF5-10B1-0F68-DF769C2D4D47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52AABC75-55D9-9C9C-4EC2-36EDEAEA6E6B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2Q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61A403F2-B624-9B65-B460-5B3959AFB97E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25593FBA-3BA7-0915-BB59-9A1F99A733F3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선수과목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 dirty="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목표</a:t>
              </a:r>
              <a:r>
                <a:rPr lang="en-US" altLang="ko-KR" sz="800" b="1" u="sng" dirty="0">
                  <a:cs typeface="Arial" pitchFamily="34" charset="0"/>
                </a:rPr>
                <a:t>: </a:t>
              </a:r>
              <a:r>
                <a:rPr lang="ko-KR" altLang="en-US" sz="800" b="1" u="sng" dirty="0">
                  <a:cs typeface="Arial" pitchFamily="34" charset="0"/>
                </a:rPr>
                <a:t>개인 브랜딩 확장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(1) </a:t>
              </a:r>
              <a:r>
                <a:rPr lang="ko-KR" altLang="en-US" sz="800" b="1" dirty="0">
                  <a:cs typeface="Arial" pitchFamily="34" charset="0"/>
                </a:rPr>
                <a:t>개인 브랜딩 증명 집중</a:t>
              </a:r>
              <a:endParaRPr lang="en-US" altLang="ko-KR" sz="800" b="1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공모전 수상 전략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논문 발행 전략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특허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창업 계획 전략</a:t>
              </a:r>
              <a:endParaRPr lang="en-US" altLang="ko-KR" sz="800" dirty="0">
                <a:cs typeface="Arial" pitchFamily="34" charset="0"/>
              </a:endParaRPr>
            </a:p>
            <a:p>
              <a:endParaRPr lang="en-US" altLang="ko-KR" sz="800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(2) </a:t>
              </a:r>
              <a:r>
                <a:rPr lang="ko-KR" altLang="en-US" sz="800" b="1" dirty="0">
                  <a:cs typeface="Arial" pitchFamily="34" charset="0"/>
                </a:rPr>
                <a:t>적극적 브랜딩 피드백</a:t>
              </a:r>
              <a:endParaRPr lang="en-US" altLang="ko-KR" sz="800" b="1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 err="1">
                  <a:cs typeface="Arial" pitchFamily="34" charset="0"/>
                </a:rPr>
                <a:t>인공지능기반의사결정</a:t>
              </a:r>
              <a:r>
                <a:rPr lang="ko-KR" altLang="en-US" sz="800" dirty="0">
                  <a:cs typeface="Arial" pitchFamily="34" charset="0"/>
                </a:rPr>
                <a:t> 학점화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산출물 완성 및 전문가 포트폴리오화</a:t>
              </a:r>
              <a:endParaRPr lang="en-US" altLang="ko-KR" sz="800" dirty="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AC5045BC-B70D-CED1-88B1-83C5978ECD1B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B1F65E50-41E1-6F28-92E1-71326C18EE86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92A08783-E300-9E28-5390-83ABED194C14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67FF63CD-FE2E-61F9-9E9D-D98CA2184B14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534;p39">
            <a:extLst>
              <a:ext uri="{FF2B5EF4-FFF2-40B4-BE49-F238E27FC236}">
                <a16:creationId xmlns:a16="http://schemas.microsoft.com/office/drawing/2014/main" id="{FEFDF532-C27D-1D64-C4C2-80C1BBCF3F08}"/>
              </a:ext>
            </a:extLst>
          </p:cNvPr>
          <p:cNvSpPr txBox="1"/>
          <p:nvPr/>
        </p:nvSpPr>
        <p:spPr>
          <a:xfrm>
            <a:off x="112294" y="5581671"/>
            <a:ext cx="8919302" cy="4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* </a:t>
            </a:r>
            <a:r>
              <a:rPr lang="ko-KR" altLang="en-US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왜 혼자서 현실적인 경쟁력을 기를 수 없는가</a:t>
            </a:r>
            <a:r>
              <a:rPr lang="en-US" altLang="ko-KR" sz="1800" b="1" u="sng" dirty="0">
                <a:solidFill>
                  <a:srgbClr val="C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??? *</a:t>
            </a:r>
          </a:p>
          <a:p>
            <a:pPr lvl="0" algn="ctr"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lang="en-US" altLang="ko-KR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ko-KR" altLang="en-US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나 스스로 나를 잘 알지 못한다</a:t>
            </a:r>
            <a:r>
              <a:rPr lang="en-US" altLang="ko-KR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! </a:t>
            </a:r>
            <a:r>
              <a:rPr lang="en-US" altLang="ko-KR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무엇을 </a:t>
            </a:r>
            <a:r>
              <a:rPr lang="en-US" altLang="ko-KR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Brand Diving?  </a:t>
            </a:r>
            <a:r>
              <a:rPr lang="ko-KR" altLang="en-US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무엇을 </a:t>
            </a:r>
            <a:r>
              <a:rPr lang="en-US" altLang="ko-KR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Study Diving?</a:t>
            </a:r>
            <a:endParaRPr sz="1600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88FEB26-6F35-F95B-6D75-9B6310EDA39E}"/>
              </a:ext>
            </a:extLst>
          </p:cNvPr>
          <p:cNvSpPr/>
          <p:nvPr/>
        </p:nvSpPr>
        <p:spPr>
          <a:xfrm>
            <a:off x="4466612" y="1587482"/>
            <a:ext cx="2409932" cy="399418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63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4372A835-E904-9D01-F283-9FC85167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3D86D3CC-228B-9C45-E129-C1C9066CAF62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63C07795-AEFC-364D-7B79-4DBCDA7B8CEC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브랜딩 선제 고민을 통한 개인 맞춤형 진로 설계</a:t>
            </a:r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7B38EC-2D46-F735-7538-D992D193D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62DCD457-8A8B-6206-CF38-993DA97F8742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86B9C210-DB7B-51F1-846D-0A2542AF2F4A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2026 3Q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4031EB3F-E788-C4E8-5729-CBA5DB5F4ACF}"/>
              </a:ext>
            </a:extLst>
          </p:cNvPr>
          <p:cNvCxnSpPr>
            <a:cxnSpLocks/>
          </p:cNvCxnSpPr>
          <p:nvPr/>
        </p:nvCxnSpPr>
        <p:spPr>
          <a:xfrm>
            <a:off x="3494052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DC041C19-A5B0-6434-786E-26F3C5C646DD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A9B276C0-D7DE-CECE-4EE1-8D2B0B9EAAF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21E7DD30-26A0-996F-1A46-6359485C3F9B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AF3FF820-B3CA-F561-92BF-748AE70A136D}"/>
              </a:ext>
            </a:extLst>
          </p:cNvPr>
          <p:cNvSpPr/>
          <p:nvPr/>
        </p:nvSpPr>
        <p:spPr>
          <a:xfrm>
            <a:off x="4539721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777CAFEE-2BE3-19B4-BC35-3FA77765370B}"/>
              </a:ext>
            </a:extLst>
          </p:cNvPr>
          <p:cNvSpPr txBox="1"/>
          <p:nvPr/>
        </p:nvSpPr>
        <p:spPr>
          <a:xfrm>
            <a:off x="4815818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2026 4Q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602262F1-ED45-3F6F-4FD5-CC626DEDD05F}"/>
              </a:ext>
            </a:extLst>
          </p:cNvPr>
          <p:cNvGrpSpPr/>
          <p:nvPr/>
        </p:nvGrpSpPr>
        <p:grpSpPr>
          <a:xfrm>
            <a:off x="4665488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058B31D4-C642-E6BE-C56E-3BA96365940D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DEF37277-C9E1-0C4B-2509-3031057AB48D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E7C19C89-B32E-8ABC-038D-57001A5AB676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9B2155E2-EF15-EFDE-96B7-978A6D55AECE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2027 1Q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C0D80B44-410C-5C2E-F792-B7C4254446E2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42C9B7D9-CC81-FEB1-2228-8B451167BDE0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선수과목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 dirty="0">
                  <a:cs typeface="Arial" pitchFamily="34" charset="0"/>
                </a:rPr>
                <a:t>Study/Project Diving</a:t>
              </a: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목표</a:t>
              </a:r>
              <a:r>
                <a:rPr lang="en-US" altLang="ko-KR" sz="800" b="1" u="sng" dirty="0">
                  <a:cs typeface="Arial" pitchFamily="34" charset="0"/>
                </a:rPr>
                <a:t>: </a:t>
              </a:r>
              <a:r>
                <a:rPr lang="ko-KR" altLang="en-US" sz="800" b="1" u="sng" dirty="0">
                  <a:cs typeface="Arial" pitchFamily="34" charset="0"/>
                </a:rPr>
                <a:t>개인 브랜딩 확장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(1) </a:t>
              </a:r>
              <a:r>
                <a:rPr lang="ko-KR" altLang="en-US" sz="800" b="1" dirty="0">
                  <a:cs typeface="Arial" pitchFamily="34" charset="0"/>
                </a:rPr>
                <a:t>개인 브랜딩 증명 집중</a:t>
              </a:r>
              <a:endParaRPr lang="en-US" altLang="ko-KR" sz="800" b="1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공모전 수상 전략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논문 발행 전략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특허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창업 계획 전략</a:t>
              </a:r>
              <a:endParaRPr lang="en-US" altLang="ko-KR" sz="800" dirty="0">
                <a:cs typeface="Arial" pitchFamily="34" charset="0"/>
              </a:endParaRPr>
            </a:p>
            <a:p>
              <a:endParaRPr lang="en-US" altLang="ko-KR" sz="800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(2) </a:t>
              </a:r>
              <a:r>
                <a:rPr lang="ko-KR" altLang="en-US" sz="800" b="1" dirty="0">
                  <a:cs typeface="Arial" pitchFamily="34" charset="0"/>
                </a:rPr>
                <a:t>적극적 브랜딩 피드백</a:t>
              </a:r>
              <a:endParaRPr lang="en-US" altLang="ko-KR" sz="800" b="1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 err="1">
                  <a:cs typeface="Arial" pitchFamily="34" charset="0"/>
                </a:rPr>
                <a:t>인공지능기반의사결정</a:t>
              </a:r>
              <a:r>
                <a:rPr lang="ko-KR" altLang="en-US" sz="800" dirty="0">
                  <a:cs typeface="Arial" pitchFamily="34" charset="0"/>
                </a:rPr>
                <a:t> 학점화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산출물 완성 및 전문가 포트폴리오화</a:t>
              </a:r>
              <a:endParaRPr lang="en-US" altLang="ko-KR" sz="800" dirty="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6D912021-EADB-7398-D859-EF0F8AF16D47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2AD2B06D-8BC9-2448-DC8D-B4D4676759C1}"/>
              </a:ext>
            </a:extLst>
          </p:cNvPr>
          <p:cNvSpPr/>
          <p:nvPr/>
        </p:nvSpPr>
        <p:spPr>
          <a:xfrm>
            <a:off x="105508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947E5D70-6538-8B65-DCA7-151778F527A6}"/>
              </a:ext>
            </a:extLst>
          </p:cNvPr>
          <p:cNvSpPr txBox="1"/>
          <p:nvPr/>
        </p:nvSpPr>
        <p:spPr>
          <a:xfrm>
            <a:off x="381605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2027 2Q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F6F3AEB3-D26B-286D-8442-36CBD27A92E0}"/>
              </a:ext>
            </a:extLst>
          </p:cNvPr>
          <p:cNvGrpSpPr/>
          <p:nvPr/>
        </p:nvGrpSpPr>
        <p:grpSpPr>
          <a:xfrm>
            <a:off x="231275" y="2527791"/>
            <a:ext cx="2091340" cy="2646286"/>
            <a:chOff x="3017861" y="4222351"/>
            <a:chExt cx="1917633" cy="2646286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93C51A31-EC81-45E0-A179-83D2AFEEAC2F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목표</a:t>
              </a:r>
              <a:r>
                <a:rPr lang="en-US" altLang="ko-KR" sz="800" b="1" u="sng" dirty="0">
                  <a:cs typeface="Arial" pitchFamily="34" charset="0"/>
                </a:rPr>
                <a:t>: </a:t>
              </a:r>
              <a:r>
                <a:rPr lang="ko-KR" altLang="en-US" sz="800" b="1" u="sng" dirty="0">
                  <a:cs typeface="Arial" pitchFamily="34" charset="0"/>
                </a:rPr>
                <a:t>개인 브랜딩 선행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(1) </a:t>
              </a:r>
              <a:r>
                <a:rPr lang="ko-KR" altLang="en-US" sz="800" b="1" dirty="0">
                  <a:cs typeface="Arial" pitchFamily="34" charset="0"/>
                </a:rPr>
                <a:t>전문가 방향 설정</a:t>
              </a:r>
              <a:r>
                <a:rPr lang="en-US" altLang="ko-KR" sz="800" b="1" dirty="0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기업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사회 주요 문제</a:t>
              </a:r>
              <a:r>
                <a:rPr lang="en-US" altLang="ko-KR" sz="800" dirty="0">
                  <a:cs typeface="Arial" pitchFamily="34" charset="0"/>
                </a:rPr>
                <a:t>(</a:t>
              </a:r>
              <a:r>
                <a:rPr lang="ko-KR" altLang="en-US" sz="800" dirty="0">
                  <a:cs typeface="Arial" pitchFamily="34" charset="0"/>
                </a:rPr>
                <a:t>공모전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논문 등</a:t>
              </a:r>
              <a:r>
                <a:rPr lang="en-US" altLang="ko-KR" sz="800" dirty="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본인 진로 방향 교집합</a:t>
              </a:r>
              <a:r>
                <a:rPr lang="en-US" altLang="ko-KR" sz="800" dirty="0">
                  <a:cs typeface="Arial" pitchFamily="34" charset="0"/>
                </a:rPr>
                <a:t>(7:3, 8:2)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경쟁력 달성 위한 해당 문제 가설 변환</a:t>
              </a:r>
              <a:endParaRPr lang="en-US" altLang="ko-KR" sz="800" dirty="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(2) </a:t>
              </a:r>
              <a:r>
                <a:rPr lang="ko-KR" altLang="en-US" sz="800" b="1" dirty="0">
                  <a:cs typeface="Arial" pitchFamily="34" charset="0"/>
                </a:rPr>
                <a:t>데이터</a:t>
              </a:r>
              <a:r>
                <a:rPr lang="en-US" altLang="ko-KR" sz="800" b="1" dirty="0">
                  <a:cs typeface="Arial" pitchFamily="34" charset="0"/>
                </a:rPr>
                <a:t> </a:t>
              </a:r>
              <a:r>
                <a:rPr lang="ko-KR" altLang="en-US" sz="800" b="1" dirty="0">
                  <a:cs typeface="Arial" pitchFamily="34" charset="0"/>
                </a:rPr>
                <a:t>해결 전략 설정</a:t>
              </a:r>
              <a:r>
                <a:rPr lang="en-US" altLang="ko-KR" sz="800" b="1" dirty="0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가설의 데이터 문제로 변환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대응 데이터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종속변수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독립변수 설정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dirty="0">
                  <a:cs typeface="Arial" pitchFamily="34" charset="0"/>
                </a:rPr>
                <a:t>AI as a Service </a:t>
              </a:r>
              <a:r>
                <a:rPr lang="ko-KR" altLang="en-US" sz="800" dirty="0">
                  <a:cs typeface="Arial" pitchFamily="34" charset="0"/>
                </a:rPr>
                <a:t>프로토타입 완성</a:t>
              </a:r>
              <a:br>
                <a:rPr lang="en-US" altLang="ko-KR" sz="800" dirty="0">
                  <a:cs typeface="Arial" pitchFamily="34" charset="0"/>
                </a:rPr>
              </a:br>
              <a:r>
                <a:rPr lang="en-US" altLang="ko-KR" sz="800" dirty="0">
                  <a:cs typeface="Arial" pitchFamily="34" charset="0"/>
                </a:rPr>
                <a:t>(1. </a:t>
              </a:r>
              <a:r>
                <a:rPr lang="ko-KR" altLang="en-US" sz="800" dirty="0">
                  <a:cs typeface="Arial" pitchFamily="34" charset="0"/>
                </a:rPr>
                <a:t>분석 프로세스</a:t>
              </a:r>
              <a:r>
                <a:rPr lang="en-US" altLang="ko-KR" sz="800" dirty="0">
                  <a:cs typeface="Arial" pitchFamily="34" charset="0"/>
                </a:rPr>
                <a:t>, 2. </a:t>
              </a:r>
              <a:r>
                <a:rPr lang="ko-KR" altLang="en-US" sz="800" dirty="0">
                  <a:cs typeface="Arial" pitchFamily="34" charset="0"/>
                </a:rPr>
                <a:t>알고리즘 고도화</a:t>
              </a:r>
              <a:r>
                <a:rPr lang="en-US" altLang="ko-KR" sz="800" dirty="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 err="1">
                  <a:cs typeface="Arial" pitchFamily="34" charset="0"/>
                </a:rPr>
                <a:t>비데사</a:t>
              </a:r>
              <a:r>
                <a:rPr lang="en-US" altLang="ko-KR" sz="800" dirty="0">
                  <a:cs typeface="Arial" pitchFamily="34" charset="0"/>
                </a:rPr>
                <a:t>+ </a:t>
              </a:r>
              <a:r>
                <a:rPr lang="ko-KR" altLang="en-US" sz="800" dirty="0" err="1">
                  <a:cs typeface="Arial" pitchFamily="34" charset="0"/>
                </a:rPr>
                <a:t>디비애</a:t>
              </a:r>
              <a:r>
                <a:rPr lang="ko-KR" altLang="en-US" sz="800" dirty="0">
                  <a:cs typeface="Arial" pitchFamily="34" charset="0"/>
                </a:rPr>
                <a:t> 커버리지</a:t>
              </a:r>
              <a:endParaRPr lang="en-US" altLang="ko-KR" sz="800" dirty="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4E08D3A1-C6B5-3D02-C910-F29D19484F0C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FF77BFF2-CC4B-36F5-60D2-0389F7B050FA}"/>
              </a:ext>
            </a:extLst>
          </p:cNvPr>
          <p:cNvCxnSpPr>
            <a:cxnSpLocks/>
          </p:cNvCxnSpPr>
          <p:nvPr/>
        </p:nvCxnSpPr>
        <p:spPr>
          <a:xfrm>
            <a:off x="5731694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FD9D0D34-B831-93A0-90EE-9BFE174FB7DF}"/>
              </a:ext>
            </a:extLst>
          </p:cNvPr>
          <p:cNvCxnSpPr>
            <a:cxnSpLocks/>
          </p:cNvCxnSpPr>
          <p:nvPr/>
        </p:nvCxnSpPr>
        <p:spPr>
          <a:xfrm>
            <a:off x="7929771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BCED61AB-5261-EE04-8EB5-9F6362012A07}"/>
              </a:ext>
            </a:extLst>
          </p:cNvPr>
          <p:cNvCxnSpPr>
            <a:cxnSpLocks/>
          </p:cNvCxnSpPr>
          <p:nvPr/>
        </p:nvCxnSpPr>
        <p:spPr>
          <a:xfrm>
            <a:off x="1295340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F530C6B-0388-AADB-A6A7-411604F620F3}"/>
              </a:ext>
            </a:extLst>
          </p:cNvPr>
          <p:cNvSpPr/>
          <p:nvPr/>
        </p:nvSpPr>
        <p:spPr>
          <a:xfrm>
            <a:off x="38450" y="1587482"/>
            <a:ext cx="2409932" cy="399418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550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45839601-B7BA-D59A-270A-A614FC70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02F1C445-8E9E-0590-2AA2-2D3FB5877900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669D7065-154A-E1EA-CD7B-B5D52004DC6B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브랜딩 선제 고민을 통한 개인 맞춤형 진로 설계</a:t>
            </a:r>
            <a:r>
              <a:rPr lang="en-US" altLang="ko-KR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BB38CA-8CA1-4877-74AF-B4D61BCC8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9644C820-9511-69CA-00D3-38775FADAF08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1E2D2FA-6A02-41A3-8BA6-AAECA1939257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2026 3Q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C65DFA9D-5E17-99A9-CDFF-37B00B6AD71E}"/>
              </a:ext>
            </a:extLst>
          </p:cNvPr>
          <p:cNvCxnSpPr>
            <a:cxnSpLocks/>
          </p:cNvCxnSpPr>
          <p:nvPr/>
        </p:nvCxnSpPr>
        <p:spPr>
          <a:xfrm>
            <a:off x="3494052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3DA7B2F1-C235-B8F2-F8E3-128070436A2B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A398D30A-C165-0568-DF18-520A103805D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37110145-FEE9-117D-0FB9-8665DCB1A182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B0456015-03AF-7D15-C4E2-91E0E82C9E9B}"/>
              </a:ext>
            </a:extLst>
          </p:cNvPr>
          <p:cNvSpPr/>
          <p:nvPr/>
        </p:nvSpPr>
        <p:spPr>
          <a:xfrm>
            <a:off x="4539721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A6C4E263-92A5-D5D6-D60A-7FD474E12BC1}"/>
              </a:ext>
            </a:extLst>
          </p:cNvPr>
          <p:cNvSpPr txBox="1"/>
          <p:nvPr/>
        </p:nvSpPr>
        <p:spPr>
          <a:xfrm>
            <a:off x="4815818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2026 4Q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7FBCFB0D-F51F-CE64-9E2F-6BE9485DC812}"/>
              </a:ext>
            </a:extLst>
          </p:cNvPr>
          <p:cNvGrpSpPr/>
          <p:nvPr/>
        </p:nvGrpSpPr>
        <p:grpSpPr>
          <a:xfrm>
            <a:off x="4665488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56143FA0-8779-99CF-C5C3-C4E0ADBAB7E1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D5E7F69E-478C-56C9-5DEE-3C855C635F57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3393666C-83B3-6DB6-0ECD-E1562CB057A9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5A1DAD46-BD68-8CE6-2BA2-0953F5E45622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2027 1Q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A4EE3EE8-3D0E-C98D-A399-AE526A25BC0E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AA7236D9-000D-6176-204E-0BD54C7F9DE4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선수과목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 dirty="0">
                  <a:cs typeface="Arial" pitchFamily="34" charset="0"/>
                </a:rPr>
                <a:t>Study/Project Diving</a:t>
              </a: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목표</a:t>
              </a:r>
              <a:r>
                <a:rPr lang="en-US" altLang="ko-KR" sz="800" b="1" u="sng" dirty="0">
                  <a:cs typeface="Arial" pitchFamily="34" charset="0"/>
                </a:rPr>
                <a:t>: </a:t>
              </a:r>
              <a:r>
                <a:rPr lang="ko-KR" altLang="en-US" sz="800" b="1" u="sng" dirty="0">
                  <a:cs typeface="Arial" pitchFamily="34" charset="0"/>
                </a:rPr>
                <a:t>개인 브랜딩 확장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(1) </a:t>
              </a:r>
              <a:r>
                <a:rPr lang="ko-KR" altLang="en-US" sz="800" b="1" dirty="0">
                  <a:cs typeface="Arial" pitchFamily="34" charset="0"/>
                </a:rPr>
                <a:t>개인 브랜딩 증명 집중</a:t>
              </a:r>
              <a:endParaRPr lang="en-US" altLang="ko-KR" sz="800" b="1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공모전 수상 전략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논문 발행 전략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특허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창업 계획 전략</a:t>
              </a:r>
              <a:endParaRPr lang="en-US" altLang="ko-KR" sz="800" dirty="0">
                <a:cs typeface="Arial" pitchFamily="34" charset="0"/>
              </a:endParaRPr>
            </a:p>
            <a:p>
              <a:endParaRPr lang="en-US" altLang="ko-KR" sz="800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(2) </a:t>
              </a:r>
              <a:r>
                <a:rPr lang="ko-KR" altLang="en-US" sz="800" b="1" dirty="0">
                  <a:cs typeface="Arial" pitchFamily="34" charset="0"/>
                </a:rPr>
                <a:t>적극적 브랜딩 피드백</a:t>
              </a:r>
              <a:endParaRPr lang="en-US" altLang="ko-KR" sz="800" b="1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 err="1">
                  <a:cs typeface="Arial" pitchFamily="34" charset="0"/>
                </a:rPr>
                <a:t>인공지능기반의사결정</a:t>
              </a:r>
              <a:r>
                <a:rPr lang="ko-KR" altLang="en-US" sz="800" dirty="0">
                  <a:cs typeface="Arial" pitchFamily="34" charset="0"/>
                </a:rPr>
                <a:t> 학점화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산출물 완성 및 전문가 포트폴리오화</a:t>
              </a:r>
              <a:endParaRPr lang="en-US" altLang="ko-KR" sz="800" dirty="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28EB73C3-8AB3-47DC-EBCC-368CA39329EC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BAD605E3-5ED3-914C-94AA-A04B33CF5BA1}"/>
              </a:ext>
            </a:extLst>
          </p:cNvPr>
          <p:cNvSpPr/>
          <p:nvPr/>
        </p:nvSpPr>
        <p:spPr>
          <a:xfrm>
            <a:off x="105508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0EB7EAD3-1222-573A-9C79-8726E44D6892}"/>
              </a:ext>
            </a:extLst>
          </p:cNvPr>
          <p:cNvSpPr txBox="1"/>
          <p:nvPr/>
        </p:nvSpPr>
        <p:spPr>
          <a:xfrm>
            <a:off x="381605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2027 2Q</a:t>
            </a:r>
          </a:p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54ED8148-3E96-B23F-B174-4C3629B4784F}"/>
              </a:ext>
            </a:extLst>
          </p:cNvPr>
          <p:cNvGrpSpPr/>
          <p:nvPr/>
        </p:nvGrpSpPr>
        <p:grpSpPr>
          <a:xfrm>
            <a:off x="231275" y="2527791"/>
            <a:ext cx="2091340" cy="2646286"/>
            <a:chOff x="3017861" y="4222351"/>
            <a:chExt cx="1917633" cy="2646286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F35466FA-22E1-AB86-03E2-27EAD64C865F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endParaRPr lang="en-US" altLang="ko-KR" sz="800" dirty="0">
                <a:cs typeface="Arial" pitchFamily="34" charset="0"/>
              </a:endParaRPr>
            </a:p>
            <a:p>
              <a:pPr algn="ctr"/>
              <a:r>
                <a:rPr lang="en-US" altLang="ko-KR" sz="800" b="1" u="sng" dirty="0">
                  <a:cs typeface="Arial" pitchFamily="34" charset="0"/>
                </a:rPr>
                <a:t>[</a:t>
              </a:r>
              <a:r>
                <a:rPr lang="ko-KR" altLang="en-US" sz="800" b="1" u="sng" dirty="0">
                  <a:cs typeface="Arial" pitchFamily="34" charset="0"/>
                </a:rPr>
                <a:t>목표</a:t>
              </a:r>
              <a:r>
                <a:rPr lang="en-US" altLang="ko-KR" sz="800" b="1" u="sng" dirty="0">
                  <a:cs typeface="Arial" pitchFamily="34" charset="0"/>
                </a:rPr>
                <a:t>: </a:t>
              </a:r>
              <a:r>
                <a:rPr lang="ko-KR" altLang="en-US" sz="800" b="1" u="sng" dirty="0">
                  <a:cs typeface="Arial" pitchFamily="34" charset="0"/>
                </a:rPr>
                <a:t>개인 브랜딩 선행</a:t>
              </a:r>
              <a:r>
                <a:rPr lang="en-US" altLang="ko-KR" sz="800" b="1" u="sng" dirty="0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(1) </a:t>
              </a:r>
              <a:r>
                <a:rPr lang="ko-KR" altLang="en-US" sz="800" b="1" dirty="0">
                  <a:cs typeface="Arial" pitchFamily="34" charset="0"/>
                </a:rPr>
                <a:t>전문가 방향 설정</a:t>
              </a:r>
              <a:r>
                <a:rPr lang="en-US" altLang="ko-KR" sz="800" b="1" dirty="0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기업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사회 주요 문제</a:t>
              </a:r>
              <a:r>
                <a:rPr lang="en-US" altLang="ko-KR" sz="800" dirty="0">
                  <a:cs typeface="Arial" pitchFamily="34" charset="0"/>
                </a:rPr>
                <a:t>(</a:t>
              </a:r>
              <a:r>
                <a:rPr lang="ko-KR" altLang="en-US" sz="800" dirty="0">
                  <a:cs typeface="Arial" pitchFamily="34" charset="0"/>
                </a:rPr>
                <a:t>공모전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논문 등</a:t>
              </a:r>
              <a:r>
                <a:rPr lang="en-US" altLang="ko-KR" sz="800" dirty="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본인 진로 방향 교집합</a:t>
              </a:r>
              <a:r>
                <a:rPr lang="en-US" altLang="ko-KR" sz="800" dirty="0">
                  <a:cs typeface="Arial" pitchFamily="34" charset="0"/>
                </a:rPr>
                <a:t>(7:3, 8:2)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경쟁력 달성 위한 해당 문제 가설 변환</a:t>
              </a:r>
              <a:endParaRPr lang="en-US" altLang="ko-KR" sz="800" dirty="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 dirty="0">
                <a:cs typeface="Arial" pitchFamily="34" charset="0"/>
              </a:endParaRPr>
            </a:p>
            <a:p>
              <a:r>
                <a:rPr lang="en-US" altLang="ko-KR" sz="800" b="1" dirty="0">
                  <a:cs typeface="Arial" pitchFamily="34" charset="0"/>
                </a:rPr>
                <a:t>(2) </a:t>
              </a:r>
              <a:r>
                <a:rPr lang="ko-KR" altLang="en-US" sz="800" b="1" dirty="0">
                  <a:cs typeface="Arial" pitchFamily="34" charset="0"/>
                </a:rPr>
                <a:t>데이터</a:t>
              </a:r>
              <a:r>
                <a:rPr lang="en-US" altLang="ko-KR" sz="800" b="1" dirty="0">
                  <a:cs typeface="Arial" pitchFamily="34" charset="0"/>
                </a:rPr>
                <a:t> </a:t>
              </a:r>
              <a:r>
                <a:rPr lang="ko-KR" altLang="en-US" sz="800" b="1" dirty="0">
                  <a:cs typeface="Arial" pitchFamily="34" charset="0"/>
                </a:rPr>
                <a:t>해결 전략 설정</a:t>
              </a:r>
              <a:r>
                <a:rPr lang="en-US" altLang="ko-KR" sz="800" b="1" dirty="0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가설의 데이터 문제로 변환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 dirty="0">
                  <a:cs typeface="Arial" pitchFamily="34" charset="0"/>
                </a:rPr>
                <a:t>대응 데이터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종속변수</a:t>
              </a:r>
              <a:r>
                <a:rPr lang="en-US" altLang="ko-KR" sz="800" dirty="0">
                  <a:cs typeface="Arial" pitchFamily="34" charset="0"/>
                </a:rPr>
                <a:t>/</a:t>
              </a:r>
              <a:r>
                <a:rPr lang="ko-KR" altLang="en-US" sz="800" dirty="0">
                  <a:cs typeface="Arial" pitchFamily="34" charset="0"/>
                </a:rPr>
                <a:t>독립변수 설정</a:t>
              </a:r>
              <a:endParaRPr lang="en-US" altLang="ko-KR" sz="800" dirty="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dirty="0">
                  <a:cs typeface="Arial" pitchFamily="34" charset="0"/>
                </a:rPr>
                <a:t>AI as a Service </a:t>
              </a:r>
              <a:r>
                <a:rPr lang="ko-KR" altLang="en-US" sz="800" dirty="0">
                  <a:cs typeface="Arial" pitchFamily="34" charset="0"/>
                </a:rPr>
                <a:t>프로토타입 완성</a:t>
              </a:r>
              <a:br>
                <a:rPr lang="en-US" altLang="ko-KR" sz="800" dirty="0">
                  <a:cs typeface="Arial" pitchFamily="34" charset="0"/>
                </a:rPr>
              </a:br>
              <a:r>
                <a:rPr lang="en-US" altLang="ko-KR" sz="800" dirty="0">
                  <a:cs typeface="Arial" pitchFamily="34" charset="0"/>
                </a:rPr>
                <a:t>(1. </a:t>
              </a:r>
              <a:r>
                <a:rPr lang="ko-KR" altLang="en-US" sz="800" dirty="0">
                  <a:cs typeface="Arial" pitchFamily="34" charset="0"/>
                </a:rPr>
                <a:t>분석 프로세스</a:t>
              </a:r>
              <a:r>
                <a:rPr lang="en-US" altLang="ko-KR" sz="800" dirty="0">
                  <a:cs typeface="Arial" pitchFamily="34" charset="0"/>
                </a:rPr>
                <a:t>, 2. </a:t>
              </a:r>
              <a:r>
                <a:rPr lang="ko-KR" altLang="en-US" sz="800" dirty="0">
                  <a:cs typeface="Arial" pitchFamily="34" charset="0"/>
                </a:rPr>
                <a:t>알고리즘 고도화</a:t>
              </a:r>
              <a:r>
                <a:rPr lang="en-US" altLang="ko-KR" sz="800" dirty="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 dirty="0" err="1">
                  <a:cs typeface="Arial" pitchFamily="34" charset="0"/>
                </a:rPr>
                <a:t>비데사</a:t>
              </a:r>
              <a:r>
                <a:rPr lang="en-US" altLang="ko-KR" sz="800" dirty="0">
                  <a:cs typeface="Arial" pitchFamily="34" charset="0"/>
                </a:rPr>
                <a:t>+ </a:t>
              </a:r>
              <a:r>
                <a:rPr lang="ko-KR" altLang="en-US" sz="800" dirty="0" err="1">
                  <a:cs typeface="Arial" pitchFamily="34" charset="0"/>
                </a:rPr>
                <a:t>디비애</a:t>
              </a:r>
              <a:r>
                <a:rPr lang="ko-KR" altLang="en-US" sz="800" dirty="0">
                  <a:cs typeface="Arial" pitchFamily="34" charset="0"/>
                </a:rPr>
                <a:t> 커버리지</a:t>
              </a:r>
              <a:endParaRPr lang="en-US" altLang="ko-KR" sz="800" dirty="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DA6706C9-62BF-EC3B-FCA9-30532D5F7292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6E9F8537-21FD-3DCE-E483-44EF447F475F}"/>
              </a:ext>
            </a:extLst>
          </p:cNvPr>
          <p:cNvCxnSpPr>
            <a:cxnSpLocks/>
          </p:cNvCxnSpPr>
          <p:nvPr/>
        </p:nvCxnSpPr>
        <p:spPr>
          <a:xfrm>
            <a:off x="5731694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A8FE4FA0-CC98-6C8C-6239-ED69E0575226}"/>
              </a:ext>
            </a:extLst>
          </p:cNvPr>
          <p:cNvCxnSpPr>
            <a:cxnSpLocks/>
          </p:cNvCxnSpPr>
          <p:nvPr/>
        </p:nvCxnSpPr>
        <p:spPr>
          <a:xfrm>
            <a:off x="7929771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606C47D4-435A-21D4-3292-6DDA6511C7D4}"/>
              </a:ext>
            </a:extLst>
          </p:cNvPr>
          <p:cNvCxnSpPr>
            <a:cxnSpLocks/>
          </p:cNvCxnSpPr>
          <p:nvPr/>
        </p:nvCxnSpPr>
        <p:spPr>
          <a:xfrm>
            <a:off x="1295340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BE13A20-DCEE-6734-4876-D2889D2D3D24}"/>
              </a:ext>
            </a:extLst>
          </p:cNvPr>
          <p:cNvSpPr/>
          <p:nvPr/>
        </p:nvSpPr>
        <p:spPr>
          <a:xfrm>
            <a:off x="38450" y="1587482"/>
            <a:ext cx="2409932" cy="3994189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6FFC2101-C26F-6D38-091F-3E6BDBC2E2E7}"/>
              </a:ext>
            </a:extLst>
          </p:cNvPr>
          <p:cNvSpPr/>
          <p:nvPr/>
        </p:nvSpPr>
        <p:spPr>
          <a:xfrm>
            <a:off x="2322615" y="5751479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0A4F6-B03B-503A-5DED-8279EB2FB697}"/>
              </a:ext>
            </a:extLst>
          </p:cNvPr>
          <p:cNvSpPr txBox="1"/>
          <p:nvPr/>
        </p:nvSpPr>
        <p:spPr>
          <a:xfrm>
            <a:off x="2598712" y="5666575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Study/Project Diving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E674550A-EA19-0C60-8F82-8F741D763E26}"/>
              </a:ext>
            </a:extLst>
          </p:cNvPr>
          <p:cNvSpPr/>
          <p:nvPr/>
        </p:nvSpPr>
        <p:spPr>
          <a:xfrm>
            <a:off x="105508" y="5751479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6C3A8E-CB24-AF60-BA45-C7595C87413A}"/>
              </a:ext>
            </a:extLst>
          </p:cNvPr>
          <p:cNvSpPr txBox="1"/>
          <p:nvPr/>
        </p:nvSpPr>
        <p:spPr>
          <a:xfrm>
            <a:off x="381605" y="5823650"/>
            <a:ext cx="177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Brand Diving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B1344D21-5D93-9C91-41A0-7A327A39187B}"/>
              </a:ext>
            </a:extLst>
          </p:cNvPr>
          <p:cNvSpPr/>
          <p:nvPr/>
        </p:nvSpPr>
        <p:spPr>
          <a:xfrm>
            <a:off x="6756828" y="5751479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AC864-90B1-63AF-DAD9-3FA04A524956}"/>
              </a:ext>
            </a:extLst>
          </p:cNvPr>
          <p:cNvSpPr txBox="1"/>
          <p:nvPr/>
        </p:nvSpPr>
        <p:spPr>
          <a:xfrm>
            <a:off x="7032925" y="5666575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Study/Project Diving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21" name="화살표: 갈매기형 수장 20">
            <a:extLst>
              <a:ext uri="{FF2B5EF4-FFF2-40B4-BE49-F238E27FC236}">
                <a16:creationId xmlns:a16="http://schemas.microsoft.com/office/drawing/2014/main" id="{8E374216-B471-F75C-5DF4-1F2F0EED06DC}"/>
              </a:ext>
            </a:extLst>
          </p:cNvPr>
          <p:cNvSpPr/>
          <p:nvPr/>
        </p:nvSpPr>
        <p:spPr>
          <a:xfrm>
            <a:off x="4539721" y="5751479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EAEE15-C045-708E-BFD1-21322079170D}"/>
              </a:ext>
            </a:extLst>
          </p:cNvPr>
          <p:cNvSpPr txBox="1"/>
          <p:nvPr/>
        </p:nvSpPr>
        <p:spPr>
          <a:xfrm>
            <a:off x="4815818" y="5823650"/>
            <a:ext cx="177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</a:rPr>
              <a:t>Brand Diving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32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D58BC7A9-84AF-EB60-FC4F-FC92D6F1B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032C9E2A-D604-FE6A-AFCD-C1A19FB5E7FF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 dirty="0"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C28BABD0-0AD5-543D-5466-509D73DFF54C}"/>
              </a:ext>
            </a:extLst>
          </p:cNvPr>
          <p:cNvSpPr txBox="1"/>
          <p:nvPr/>
        </p:nvSpPr>
        <p:spPr>
          <a:xfrm>
            <a:off x="1507587" y="645940"/>
            <a:ext cx="612882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lang="en-US" altLang="ko-KR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CE9B08-79F6-21C3-5F7B-A06C70EAB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4" name="Google Shape;721;p43">
            <a:extLst>
              <a:ext uri="{FF2B5EF4-FFF2-40B4-BE49-F238E27FC236}">
                <a16:creationId xmlns:a16="http://schemas.microsoft.com/office/drawing/2014/main" id="{9E39CFB3-BDA7-B707-DC80-BA83A30C6FA2}"/>
              </a:ext>
            </a:extLst>
          </p:cNvPr>
          <p:cNvSpPr txBox="1"/>
          <p:nvPr/>
        </p:nvSpPr>
        <p:spPr>
          <a:xfrm>
            <a:off x="370981" y="2300797"/>
            <a:ext cx="8439463" cy="1643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다이브</a:t>
            </a:r>
            <a:r>
              <a:rPr lang="ko-KR" alt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활동을 하면서 어떤 것을 얻었는지</a:t>
            </a:r>
            <a:r>
              <a:rPr lang="en-US" altLang="ko-K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지금까지 활동하면서 정말 얻은 게 무엇인지 궁금하다고 질문</a:t>
            </a:r>
            <a:r>
              <a:rPr lang="en-US" altLang="ko-K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교수님과의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교류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현업 관점의 피드백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지도 경험</a:t>
            </a:r>
            <a:endParaRPr lang="en-US" altLang="ko-KR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활동을 진행하게 된다면 어떤 활동을 중점적으로 하는지 알고 싶다고 질문</a:t>
            </a:r>
            <a:r>
              <a:rPr lang="en-US" altLang="ko-K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ko-KR" alt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예를 들어 논문 작성을 많이 하는지</a:t>
            </a:r>
            <a:r>
              <a:rPr lang="en-US" altLang="ko-K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공모전 같은 대회를 더 많이 나가는지 카테고리를 알고 싶다고 질문</a:t>
            </a:r>
            <a:endParaRPr lang="en-US" altLang="ko-KR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스터디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최종적으로 개인 브랜딩과 논문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공모전 등 기타 활동을 한다</a:t>
            </a:r>
            <a:endParaRPr lang="en-US" altLang="ko-KR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77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8D6BA330-23B8-F760-0A76-C3D7FFA7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087968D2-CC12-78B3-4C68-498D2BC41C3E}"/>
              </a:ext>
            </a:extLst>
          </p:cNvPr>
          <p:cNvSpPr txBox="1"/>
          <p:nvPr/>
        </p:nvSpPr>
        <p:spPr>
          <a:xfrm>
            <a:off x="6063094" y="2300797"/>
            <a:ext cx="2717652" cy="257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애널리스트 역량 입증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방향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본인 진로의 전문성을 입증할 수 있는 산출물을 제시하며 브랜딩 집중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자격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Studing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Diving + Project Diving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필수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산출물 우선순위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결국 개인 포트폴리오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>
              <a:lnSpc>
                <a:spcPct val="120000"/>
              </a:lnSpc>
              <a:buSzPts val="1400"/>
            </a:pP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창업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특허 제안서 작성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KCI/SCIE/SSCI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연구논문 작성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공모전 수상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주의사항</a:t>
            </a:r>
            <a:r>
              <a:rPr lang="en-US" altLang="ko-KR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학기에는 지도교수와의 직접 지도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학기에는 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인공지능기반의사결정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수강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청강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실질적 효과를 위해선 선행된 공모전이나 연구 또는 창업현황을 미리 분석 후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빠른 대응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작성 필수적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필요에 따라 도구 스터디 및 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Diving 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가이드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5898717B-FB10-775E-F108-8E47309100A1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8C001949-097F-D3F4-DBA9-D80CD42423D8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ata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nsight &amp;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alue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xploration)</a:t>
            </a: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379858C0-4351-C5DC-E37E-DD8690F69DAB}"/>
              </a:ext>
            </a:extLst>
          </p:cNvPr>
          <p:cNvSpPr/>
          <p:nvPr/>
        </p:nvSpPr>
        <p:spPr>
          <a:xfrm>
            <a:off x="370982" y="1971883"/>
            <a:ext cx="2717652" cy="303475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79934BCB-66EE-3C98-4AD0-6B242313D549}"/>
              </a:ext>
            </a:extLst>
          </p:cNvPr>
          <p:cNvSpPr/>
          <p:nvPr/>
        </p:nvSpPr>
        <p:spPr>
          <a:xfrm>
            <a:off x="370982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Diving</a:t>
            </a: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2A7E659A-7D3A-AAC8-A05D-A83521BE3382}"/>
              </a:ext>
            </a:extLst>
          </p:cNvPr>
          <p:cNvSpPr/>
          <p:nvPr/>
        </p:nvSpPr>
        <p:spPr>
          <a:xfrm>
            <a:off x="3217039" y="1971886"/>
            <a:ext cx="2717652" cy="3034749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6E4A68BD-514F-D12A-4F9E-9014C4F87716}"/>
              </a:ext>
            </a:extLst>
          </p:cNvPr>
          <p:cNvSpPr/>
          <p:nvPr/>
        </p:nvSpPr>
        <p:spPr>
          <a:xfrm>
            <a:off x="3217039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Diving</a:t>
            </a:r>
            <a:endParaRPr sz="18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CC4FC95D-2FE7-304C-A836-D951E6867A4B}"/>
              </a:ext>
            </a:extLst>
          </p:cNvPr>
          <p:cNvSpPr/>
          <p:nvPr/>
        </p:nvSpPr>
        <p:spPr>
          <a:xfrm>
            <a:off x="6063095" y="1971886"/>
            <a:ext cx="2717652" cy="3034749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ABAECF0B-912F-A781-2EB6-68345587DB82}"/>
              </a:ext>
            </a:extLst>
          </p:cNvPr>
          <p:cNvSpPr/>
          <p:nvPr/>
        </p:nvSpPr>
        <p:spPr>
          <a:xfrm>
            <a:off x="6063095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 Diving</a:t>
            </a:r>
            <a:endParaRPr sz="18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396626-1ADE-5AA0-CC6A-67452AD2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721;p43">
                <a:extLst>
                  <a:ext uri="{FF2B5EF4-FFF2-40B4-BE49-F238E27FC236}">
                    <a16:creationId xmlns:a16="http://schemas.microsoft.com/office/drawing/2014/main" id="{B485AA15-4A9C-9F40-FB93-BE8210CE5D84}"/>
                  </a:ext>
                </a:extLst>
              </p:cNvPr>
              <p:cNvSpPr txBox="1"/>
              <p:nvPr/>
            </p:nvSpPr>
            <p:spPr>
              <a:xfrm>
                <a:off x="370982" y="2300797"/>
                <a:ext cx="2717652" cy="2539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목표</a:t>
                </a:r>
                <a:r>
                  <a:rPr lang="en-US" altLang="ko-KR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데이터 기반 의사결정 지식 습득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학습</a:t>
                </a:r>
                <a:r>
                  <a:rPr lang="en-US" altLang="ko-KR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</a:p>
              <a:p>
                <a:pPr marR="0" lvl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</a:pP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① 데이터 의사결정 프로세스 완성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lvl="0">
                  <a:lnSpc>
                    <a:spcPct val="120000"/>
                  </a:lnSpc>
                  <a:buSzPts val="1400"/>
                </a:pP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② 머신러닝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딥러닝 알고리즘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주의사항</a:t>
                </a:r>
                <a:r>
                  <a:rPr lang="en-US" altLang="ko-KR" sz="105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도구사용법이 아닌 지식습득이 우선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도구는 스터디 대상이 아니라 필요시 선택 수단</a:t>
                </a:r>
                <a:endParaRPr lang="en-US" altLang="ko-KR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게으름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/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효율을 높여주는 도구는 있어도 지식을 늘려주는 도구는 없으므로 스터디 대상 비추천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도구는 각자가 활용하고 스스로 전문가가 된 후 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DIVE</a:t>
                </a: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에 소개하며 서로 효율을 높이는게 바람직하며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도구가 스터디 대상이 되어 지식이 늦어지면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도구만 써보다 창의적 생산자가 아닌 충성스런 소비자로써만 증명되고 졸업하게 될 것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~ (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도구사용경험 </a:t>
                </a:r>
                <a14:m>
                  <m:oMath xmlns:m="http://schemas.openxmlformats.org/officeDocument/2006/math">
                    <m:r>
                      <a:rPr lang="en-US" altLang="ko-KR" sz="8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≠</m:t>
                    </m:r>
                  </m:oMath>
                </a14:m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전문가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스터디 내용 문서화 및 피드백 필수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  <a:endParaRPr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3" name="Google Shape;721;p43">
                <a:extLst>
                  <a:ext uri="{FF2B5EF4-FFF2-40B4-BE49-F238E27FC236}">
                    <a16:creationId xmlns:a16="http://schemas.microsoft.com/office/drawing/2014/main" id="{A53C4606-6E1E-5825-667D-E9A7F3F56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2" y="2300797"/>
                <a:ext cx="2717652" cy="2539116"/>
              </a:xfrm>
              <a:prstGeom prst="rect">
                <a:avLst/>
              </a:prstGeom>
              <a:blipFill>
                <a:blip r:embed="rId3"/>
                <a:stretch>
                  <a:fillRect l="-897" t="-1439" b="-21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721;p43">
            <a:extLst>
              <a:ext uri="{FF2B5EF4-FFF2-40B4-BE49-F238E27FC236}">
                <a16:creationId xmlns:a16="http://schemas.microsoft.com/office/drawing/2014/main" id="{43BB4752-03C4-AED7-02A5-9597DE7AACE8}"/>
              </a:ext>
            </a:extLst>
          </p:cNvPr>
          <p:cNvSpPr txBox="1"/>
          <p:nvPr/>
        </p:nvSpPr>
        <p:spPr>
          <a:xfrm>
            <a:off x="3217038" y="2300797"/>
            <a:ext cx="2717652" cy="252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숫자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이미지 데이터 활용 실제 비즈니스 문제 해결 역량 습득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자격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Study Diving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지식 필수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숫자 기반 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XAI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애널리틱스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ko-KR" alt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 및 이미지 기반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패턴 추출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활용 비즈니스 미래 수요예측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주의사항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 지식이나 코드를 직접적으로 전달하지는 않고 방향만 가이드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스스로 필요 지식과 코드를 탐색 및 문제를 해결 또는 개선할 수 있는 역량 함양이 목적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필요에 따라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와 같은 도구 사용 스터디 필요 및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Diving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과정에 가이드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F5598CE9-8BA2-8C48-7612-2A715616956F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010014" y="258246"/>
            <a:ext cx="281780" cy="2842192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93C421CB-332D-46B9-7D30-1EB9F726250C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856070" y="254381"/>
            <a:ext cx="281780" cy="2849921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78F7226-4E4B-BE66-94FA-9102EE805DEC}"/>
              </a:ext>
            </a:extLst>
          </p:cNvPr>
          <p:cNvCxnSpPr>
            <a:cxnSpLocks/>
            <a:stCxn id="579" idx="2"/>
            <a:endCxn id="583" idx="0"/>
          </p:cNvCxnSpPr>
          <p:nvPr/>
        </p:nvCxnSpPr>
        <p:spPr>
          <a:xfrm>
            <a:off x="4572000" y="1538452"/>
            <a:ext cx="3865" cy="28178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534;p39">
            <a:extLst>
              <a:ext uri="{FF2B5EF4-FFF2-40B4-BE49-F238E27FC236}">
                <a16:creationId xmlns:a16="http://schemas.microsoft.com/office/drawing/2014/main" id="{17C4A2CC-4D08-EB54-ACEB-02143258CB50}"/>
              </a:ext>
            </a:extLst>
          </p:cNvPr>
          <p:cNvSpPr txBox="1"/>
          <p:nvPr/>
        </p:nvSpPr>
        <p:spPr>
          <a:xfrm>
            <a:off x="363143" y="5058127"/>
            <a:ext cx="8417604" cy="1222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2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모집시기 및 모집인원</a:t>
            </a:r>
            <a:r>
              <a:rPr lang="en-US" altLang="ko-KR" sz="12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</a:t>
            </a:r>
            <a:r>
              <a:rPr lang="ko-KR" alt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매년 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6</a:t>
            </a:r>
            <a:r>
              <a:rPr lang="ko-KR" alt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월 </a:t>
            </a:r>
            <a:r>
              <a:rPr lang="ko-KR" altLang="en-US" sz="12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구글폼</a:t>
            </a:r>
            <a:r>
              <a:rPr lang="ko-KR" alt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활용 정기모집으로 약 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10</a:t>
            </a:r>
            <a:r>
              <a:rPr lang="ko-KR" alt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명 내외 모집 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+ </a:t>
            </a:r>
            <a:r>
              <a:rPr lang="ko-KR" alt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필요시 분기별 수시모집</a:t>
            </a:r>
            <a:endParaRPr lang="en-US" altLang="ko-KR"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지원자격</a:t>
            </a:r>
            <a:r>
              <a:rPr lang="en-US" altLang="ko-KR" sz="12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나이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전공 </a:t>
            </a:r>
            <a:r>
              <a:rPr lang="ko-KR" alt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제한없음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ko-KR" alt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비즈니스데이터사이언스의이해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ko-KR" alt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디지털비즈니스애널리틱스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등 </a:t>
            </a:r>
            <a:r>
              <a:rPr lang="ko-KR" alt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교내외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유관수업 이수자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우대사항</a:t>
            </a:r>
            <a:r>
              <a:rPr lang="en-US" altLang="ko-KR" sz="12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년 이상의 집중적인 활동이 가능한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1~3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학년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타 활동 빈도 낮은 학생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운영</a:t>
            </a:r>
            <a:r>
              <a:rPr lang="en-US" altLang="ko-KR" sz="12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해당분기 집중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다음분기 목표 설정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유령 정리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+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분기 목표 달성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… 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개인별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Branding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달성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DIVE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정식 멤버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!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38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2C3A2FB4-D7F1-DF0C-8BF2-4C9BCA35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076B17AA-E937-F55C-6C2C-6B65E3D8E10C}"/>
              </a:ext>
            </a:extLst>
          </p:cNvPr>
          <p:cNvSpPr txBox="1"/>
          <p:nvPr/>
        </p:nvSpPr>
        <p:spPr>
          <a:xfrm>
            <a:off x="4655529" y="2300797"/>
            <a:ext cx="4125217" cy="243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배경지식과 용어 지식화를 위한 필수내용 요약 소개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https://github.com/thekimk/Tutorial-Probability-Statistics-Algorithm-DataScience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https://www.youtube.com/playlist?list=PLYP0LH6y1TM4DOvCt0BhJhxXjCniU4-_A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관련 수학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개론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데이터분석에 필요한 지식은 수학과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통계학과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산업공학과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컴퓨터공학과 등 에서 매우 일부분이기 때문에 관련 교과목 미수강시 본 영상으로 필요내용만 빠르게 정리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FE7F8EAC-BD31-A85E-0C71-76CBDEF05DB9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F587D563-F5F6-3D4E-9489-7778FEBCD607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(PREREQUISITES)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8633FAD7-6280-CA7F-92B9-FC836BAB3F55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4E98DC28-46C2-7B79-B179-BE21F052791D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Tool | Python Programming Tutorial</a:t>
            </a:r>
            <a:endParaRPr lang="en-US" altLang="ko-KR"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4094AB5F-724C-BB87-1B4A-3FF259D58B15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D26E273D-7050-5E18-3C83-595A20BF12A3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Prerequisites | What is Required to Become a Data Scientist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9C9E40-0491-DBA1-089A-F6D8D99B4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EFE624B8-920D-7DF2-74DF-4ABC4CF6737D}"/>
              </a:ext>
            </a:extLst>
          </p:cNvPr>
          <p:cNvSpPr txBox="1"/>
          <p:nvPr/>
        </p:nvSpPr>
        <p:spPr>
          <a:xfrm>
            <a:off x="370982" y="2300797"/>
            <a:ext cx="4117490" cy="239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도구 파이썬 사용법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https://github.com/thekimk/Tutorial-Python-Programming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요약본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https://www.youtube.com/playlist?list=PLYP0LH6y1TM4P3HMNM3JQ8MFx8z6nLo9O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https://www.youtube.com/playlist?list=PLYP0LH6y1TM6H3o82V-vDqQ7DbiRLJf4J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비즈니스데이터사이언스의이해 또는 파이썬 프로그래밍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사용법 잊은 경우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필요한 부분만 선택적 수강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174405D2-28AD-37A2-6CA5-AB88B9C15988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7DB30250-B249-69EB-7590-A0B64C9A769B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669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68B5C21B-C041-D4B9-3418-573ABF55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3AA4CD3D-0AF1-A51C-CB30-745F3DE1C9F6}"/>
              </a:ext>
            </a:extLst>
          </p:cNvPr>
          <p:cNvSpPr txBox="1"/>
          <p:nvPr/>
        </p:nvSpPr>
        <p:spPr>
          <a:xfrm>
            <a:off x="4655529" y="2300797"/>
            <a:ext cx="4125217" cy="209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 알고리즘 이해 및 데이터분석 성능 고도화 시작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https://github.com/thekimk/All-About-Machine-Learning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https://www.youtube.com/playlist?list=PLYP0LH6y1TM6Khh6_ydAPoC9Fj4H_Vp-G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또는 머신러닝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프로세스 단계 스스로 완성할 줄 알고나서 수강 추천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강의에 포함되지 않은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알고리즘을 통한 설명력 실습은 강의외 스스로 습득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8C711457-986B-769B-2FD3-51AC01C57BFE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A45D06D7-2FC6-9DA4-5490-F4DA235D35D3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(BASIC)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71914DEF-E855-1595-B027-C5AB3596A16A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D9494BB2-79C2-2173-C5A5-F4A4F9E74C22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Process | Why You Should Ask The Real Business Question?</a:t>
            </a:r>
            <a:endParaRPr lang="en-US" altLang="ko-KR"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6E411A05-34B6-79CE-1FA3-AA26DC53B11D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728BEA6F-526C-0C05-BB08-7CD2715C8658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Algorithms | What are Machine Learning Algorithms for AI Engines?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C21D66-8432-0CEE-FB96-3CE1D1B8E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10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69543C70-2567-FA81-4203-F6FC7E9E5626}"/>
              </a:ext>
            </a:extLst>
          </p:cNvPr>
          <p:cNvSpPr txBox="1"/>
          <p:nvPr/>
        </p:nvSpPr>
        <p:spPr>
          <a:xfrm>
            <a:off x="370982" y="2300797"/>
            <a:ext cx="4117490" cy="224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프로세스 단계 완성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https://github.com/thekimk/All-About-Machine-Learning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https://www.youtube.com/playlist?list=PLYP0LH6y1TM50-9XqZfI2bbIOXCxYLauH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또는 기초데이터분석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알고리즘보다 전체적인 데이터분석 프로세스를 완성하는 것이 목표이므로 끝까지 달려 완성하는 실습이 매우 중요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!!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프로세스 완성도 스스로 하지 못하면서 알고리즘 아무리 배워도 써먹지 못함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2765C78-0726-73B6-EAC2-3E30C96C91F1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AF29324-B00B-F3ED-8411-CADA487EC836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FFE3BCA-23F5-9392-B79A-A6C5C68921D4}"/>
              </a:ext>
            </a:extLst>
          </p:cNvPr>
          <p:cNvSpPr/>
          <p:nvPr/>
        </p:nvSpPr>
        <p:spPr>
          <a:xfrm>
            <a:off x="370981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B921964-1A95-F318-48E0-7A096BF61BAF}"/>
              </a:ext>
            </a:extLst>
          </p:cNvPr>
          <p:cNvSpPr/>
          <p:nvPr/>
        </p:nvSpPr>
        <p:spPr>
          <a:xfrm>
            <a:off x="7418939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</p:spTree>
    <p:extLst>
      <p:ext uri="{BB962C8B-B14F-4D97-AF65-F5344CB8AC3E}">
        <p14:creationId xmlns:p14="http://schemas.microsoft.com/office/powerpoint/2010/main" val="2988390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7E4102F5-2496-0D19-D0B9-126D8590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A1A07AB1-C7A7-EA49-2872-B419C5CEFF2A}"/>
              </a:ext>
            </a:extLst>
          </p:cNvPr>
          <p:cNvSpPr txBox="1"/>
          <p:nvPr/>
        </p:nvSpPr>
        <p:spPr>
          <a:xfrm>
            <a:off x="4655529" y="2300797"/>
            <a:ext cx="4125217" cy="253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알고리즘 이해 및 데이터분석 성능 고도화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https://github.com/thekimk/All-About-Deep-Learning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https://youtube.com/playlist?list=PLYP0LH6y1TM6s-bdE1Og3U6_SnV6CsqwJ&amp;si=o1BDtamwTK9are_e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인공지능기반의사결정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또는 딥러닝 등 </a:t>
            </a: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수강시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미필요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최소 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altLang="ko-KR" sz="800" b="1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Science Algorithms | What are Machine Learning Algorithms for AI Engines?”</a:t>
            </a: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스스로 완성 및 충분히 익숙해진 후 수강 추천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시간데이터 처리가 포함되므로 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altLang="ko-KR" sz="800" b="1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Science Process + Algorithms | How Do We Solve the Time Dependency Problem?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수강 후 학습해야 끝까지 달리기 용이함</a:t>
            </a:r>
            <a:endParaRPr lang="en-US" altLang="ko-KR" sz="500" dirty="0">
              <a:solidFill>
                <a:schemeClr val="tx2">
                  <a:lumMod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6CD80869-4EB3-CBB6-CE4A-1872A3DA1027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01321049-A43E-D94D-0075-20EFCB5C896D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(ADVANCED)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B45AC09A-47DF-ABF1-B692-57A3C81248EE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2ABE44CB-7466-4322-ED02-C13E281BEFDA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| How Do We Solve the Time Dependency Problem?</a:t>
            </a:r>
            <a:endParaRPr lang="en-US" altLang="ko-KR" sz="12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6567846B-EE6A-266C-C06E-60901E18F28E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C80324B1-0C31-2F23-02C5-3C477093C7B5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| What are Deep Learning Algorithms for AI Engines?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36C33B-3D13-9517-6345-233CC2B24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11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651C8841-E303-7C44-038F-92F15589885C}"/>
              </a:ext>
            </a:extLst>
          </p:cNvPr>
          <p:cNvSpPr txBox="1"/>
          <p:nvPr/>
        </p:nvSpPr>
        <p:spPr>
          <a:xfrm>
            <a:off x="370982" y="2300797"/>
            <a:ext cx="4117490" cy="224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시간의존 문제 해결을 위한 데이터분석 프로세스 단계 완성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https://github.com/thekimk/All-About-Time-Series-Analysis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https://www.youtube.com/playlist?list=PLYP0LH6y1TM77hdoLW5W5IdvQpk20UK5W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비즈니스수요예측 또는 시계열분석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시간의존 데이터처리를 위한 데이터분석 프로세스를 완성과 관련 알고리즘을 동시에 다루기 때문에 끝까지 달려 실습을 완성하지 못하면 시간데이터 다루지 못함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매년 진행되는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유통데이터 활용 경진대회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미리 준비 후 수상시 전문가 증빙 추천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F16AF9E-B382-610C-40D2-F590972DD453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5D21C9B4-B3C0-9B59-CD98-DAE111E774E5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17F0EAB-2C14-9BC0-6AA1-BA6DF06E07A9}"/>
              </a:ext>
            </a:extLst>
          </p:cNvPr>
          <p:cNvSpPr/>
          <p:nvPr/>
        </p:nvSpPr>
        <p:spPr>
          <a:xfrm>
            <a:off x="7418939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</p:spTree>
    <p:extLst>
      <p:ext uri="{BB962C8B-B14F-4D97-AF65-F5344CB8AC3E}">
        <p14:creationId xmlns:p14="http://schemas.microsoft.com/office/powerpoint/2010/main" val="172385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4B86F084-A60B-D00A-83D3-13FF3105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3324F300-B896-0689-4ED6-4CFC9A626B5F}"/>
              </a:ext>
            </a:extLst>
          </p:cNvPr>
          <p:cNvSpPr txBox="1"/>
          <p:nvPr/>
        </p:nvSpPr>
        <p:spPr>
          <a:xfrm>
            <a:off x="4655529" y="2300797"/>
            <a:ext cx="4125217" cy="248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애널리틱스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수요를 정확하게 예측해볼까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 및 텍스트 형태로 구성된 경제지표와 뉴스데이터 융합을 통한 미래예측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데이터결합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시계열정보추출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텍스트정보추출</a:t>
            </a:r>
            <a:endParaRPr lang="en-US" altLang="ko-KR" sz="105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https://github.com/thekimk/Lecture-NIA/tree/main/Data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데이터결합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수요데이터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(df_KTX_monthsum_example_KK)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경제지표 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(ECON &amp; KOSIS)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시계열정보추출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시간 정보에서 추출할 수 있는 주말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주중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공휴일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대체공휴일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명절 등 추출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뉴스데이터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크롤링 또는 빅카인즈에서 뉴스데이터 추출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(NewsResult_20150101-20250331_KTX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코레일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.xlsx) 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(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검색어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KTX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코레일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15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~25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 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언론사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전국일간지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경제일간지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방송사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전문지 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통합분류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텍스트정보추출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 빈도별 뉴스 트래픽 및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감성분석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필요시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ko-KR" altLang="en-US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신규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독립변수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 없는 미래 기간의 수요 예측</a:t>
            </a:r>
            <a:endParaRPr lang="en-US" altLang="ko-KR"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30C7D7A2-A15F-EA79-05C8-688F62D604E1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EAF01631-C050-3EC7-C11E-17E04E39A120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Project Diving</a:t>
            </a:r>
          </a:p>
          <a:p>
            <a:pPr algn="ctr"/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https://github.com/thekimk/Lecture-NIA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참고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altLang="ko-KR" sz="12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073D5AA6-4886-CC39-97D8-2818FF66C61C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5FA56E53-AA9A-1248-BE2B-C9868AACA5E5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Classification</a:t>
            </a:r>
            <a:endParaRPr lang="en-US" altLang="ko-KR" sz="18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9363C759-ECE5-BF81-2107-57D18D854147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56F73D3C-E1A4-5566-9A6B-A38588302CAB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Regression</a:t>
            </a:r>
            <a:endParaRPr sz="18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71ACDD-9352-ECA5-7E26-4F0CBD3B2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12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4494053A-85F6-EEB5-8C3F-D1CF6C70B62D}"/>
              </a:ext>
            </a:extLst>
          </p:cNvPr>
          <p:cNvSpPr txBox="1"/>
          <p:nvPr/>
        </p:nvSpPr>
        <p:spPr>
          <a:xfrm>
            <a:off x="370982" y="2300797"/>
            <a:ext cx="4117490" cy="302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</a:t>
            </a:r>
            <a:r>
              <a:rPr lang="ko-KR" altLang="en-US" sz="10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애널리틱스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누구에게 마케팅을 </a:t>
            </a:r>
            <a:r>
              <a:rPr lang="ko-KR" altLang="en-US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해야할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것인가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설명가능한 인공지능을 활용한 추천과 근거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샘플 데이터로 분석프로세스 완성</a:t>
            </a:r>
            <a:endParaRPr lang="en-US" altLang="ko-KR" sz="105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샘플 데이터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숫자 설문조사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https://github.com/thekimk/Lecture-NIA/blob/main/Data/df_concat_BA1.csv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종속변수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기부여부</a:t>
            </a:r>
            <a:endParaRPr lang="en-US" altLang="ko-K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Logistic Regression, Random Forest, </a:t>
            </a:r>
            <a:r>
              <a:rPr lang="en-US" altLang="ko-K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MLP, CNN 7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 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SHAP 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개인설명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전체설명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의존성</a:t>
            </a:r>
            <a:endParaRPr lang="en-US" altLang="ko-KR" sz="9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ko-KR" altLang="en-US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실제 데이터로 분석 프로세스 완성</a:t>
            </a:r>
            <a:endParaRPr lang="en-US" altLang="ko-KR" sz="105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 데이터 논리적 결합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https://mdis.kostat.go.kr/dwnlSvc/ofrSurvSearch.do?curMenuNo=UI_POR_P9240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사회일반 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사회조사 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복지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사회참여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문화와여가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소득과소비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노동 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2021~2023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Logistic Regression, Random Forest, </a:t>
            </a:r>
            <a:r>
              <a:rPr lang="en-US" altLang="ko-K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altLang="ko-K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MLP, CNN 7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 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SHAP 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개인설명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전체설명</a:t>
            </a: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의존성</a:t>
            </a:r>
            <a:endParaRPr lang="en-US" altLang="ko-K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</a:t>
            </a: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업데이트</a:t>
            </a:r>
            <a:endParaRPr lang="en-US" altLang="ko-KR" sz="10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</a:t>
            </a:r>
            <a:r>
              <a:rPr lang="ko-KR" alt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넘어서기</a:t>
            </a:r>
            <a:endParaRPr lang="en-US" altLang="ko-K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10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0FC8D22-DA8C-6ACA-09B5-FD62BAB22402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2D6D092-985B-606C-44C8-1F0125387B0A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BC64A8-69E2-43C4-9936-09AEAF872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47"/>
          <a:stretch>
            <a:fillRect/>
          </a:stretch>
        </p:blipFill>
        <p:spPr bwMode="auto">
          <a:xfrm>
            <a:off x="525036" y="4884519"/>
            <a:ext cx="3809381" cy="11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33F3FAE-FC26-6BA1-207D-540B643907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98"/>
          <a:stretch>
            <a:fillRect/>
          </a:stretch>
        </p:blipFill>
        <p:spPr bwMode="auto">
          <a:xfrm>
            <a:off x="5675734" y="4708280"/>
            <a:ext cx="2084809" cy="131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40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/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F075A8-4252-AF85-AD17-CC86EF746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13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F2D9B29E-711C-E92C-D3FC-DFADA77AB9CE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F3503539-3AFB-8E69-7B80-95937887FEDE}"/>
              </a:ext>
            </a:extLst>
          </p:cNvPr>
          <p:cNvSpPr txBox="1"/>
          <p:nvPr/>
        </p:nvSpPr>
        <p:spPr>
          <a:xfrm>
            <a:off x="381606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2025 3Q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F57A510E-6338-5263-DAAA-BDBFACDB3A0A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B59D5234-CB93-F6AC-0C35-7D5FFF667235}"/>
              </a:ext>
            </a:extLst>
          </p:cNvPr>
          <p:cNvGrpSpPr/>
          <p:nvPr/>
        </p:nvGrpSpPr>
        <p:grpSpPr>
          <a:xfrm>
            <a:off x="231276" y="2527791"/>
            <a:ext cx="2091340" cy="3015618"/>
            <a:chOff x="3017861" y="4222351"/>
            <a:chExt cx="1917633" cy="3015618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CA4CE6DA-42F9-C23E-AA79-347BE790A8E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 </a:t>
              </a:r>
              <a:r>
                <a:rPr lang="en-US" altLang="ko-KR" sz="800" b="1" u="sng">
                  <a:cs typeface="Arial" pitchFamily="34" charset="0"/>
                </a:rPr>
                <a:t>&amp; </a:t>
              </a:r>
              <a:r>
                <a:rPr lang="ko-KR" altLang="en-US" sz="800" b="1" u="sng">
                  <a:cs typeface="Arial" pitchFamily="34" charset="0"/>
                </a:rPr>
                <a:t>비즈니스수요예측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(4)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3369309B-B2BE-C06E-FD1D-CF6B6BE79E70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592" name="타원 591">
            <a:extLst>
              <a:ext uri="{FF2B5EF4-FFF2-40B4-BE49-F238E27FC236}">
                <a16:creationId xmlns:a16="http://schemas.microsoft.com/office/drawing/2014/main" id="{08E10661-45F6-9567-47B8-9E1BEA691825}"/>
              </a:ext>
            </a:extLst>
          </p:cNvPr>
          <p:cNvSpPr/>
          <p:nvPr/>
        </p:nvSpPr>
        <p:spPr>
          <a:xfrm>
            <a:off x="862183" y="5443940"/>
            <a:ext cx="829524" cy="8295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357627FE-0465-3E0F-AEDC-08D827AB3B4D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9947AEEC-BAD3-DA58-2F15-F78101FC05BB}"/>
              </a:ext>
            </a:extLst>
          </p:cNvPr>
          <p:cNvSpPr txBox="1"/>
          <p:nvPr/>
        </p:nvSpPr>
        <p:spPr>
          <a:xfrm>
            <a:off x="2598712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2025 4Q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22A3A13D-3E85-1592-D7CB-679EFBD9BC9C}"/>
              </a:ext>
            </a:extLst>
          </p:cNvPr>
          <p:cNvGrpSpPr/>
          <p:nvPr/>
        </p:nvGrpSpPr>
        <p:grpSpPr>
          <a:xfrm>
            <a:off x="2448382" y="2527791"/>
            <a:ext cx="2091340" cy="2769397"/>
            <a:chOff x="3017861" y="4222351"/>
            <a:chExt cx="1917633" cy="276939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6DA4AEF-9021-9F11-A08D-8523E5D9C0DF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비즈니스 애널리틱스</a:t>
              </a:r>
              <a:r>
                <a:rPr lang="en-US" altLang="ko-KR" sz="800" b="1">
                  <a:cs typeface="Arial" pitchFamily="34" charset="0"/>
                </a:rPr>
                <a:t>1:</a:t>
              </a:r>
              <a:r>
                <a:rPr lang="en-US" altLang="ko-KR" sz="800">
                  <a:cs typeface="Arial" pitchFamily="34" charset="0"/>
                </a:rPr>
                <a:t> </a:t>
              </a: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비즈니스 애널리틱스</a:t>
              </a:r>
              <a:r>
                <a:rPr lang="en-US" altLang="ko-KR" sz="800" b="1">
                  <a:cs typeface="Arial" pitchFamily="34" charset="0"/>
                </a:rPr>
                <a:t>2:</a:t>
              </a:r>
              <a:r>
                <a:rPr lang="en-US" altLang="ko-KR" sz="800">
                  <a:cs typeface="Arial" pitchFamily="34" charset="0"/>
                </a:rPr>
                <a:t> </a:t>
              </a: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0DE5D15B-1F86-7651-F18F-148759C6DFEA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657" name="타원 656">
            <a:extLst>
              <a:ext uri="{FF2B5EF4-FFF2-40B4-BE49-F238E27FC236}">
                <a16:creationId xmlns:a16="http://schemas.microsoft.com/office/drawing/2014/main" id="{5A7F13BB-005A-FBD3-7A03-D7F64DB1089F}"/>
              </a:ext>
            </a:extLst>
          </p:cNvPr>
          <p:cNvSpPr/>
          <p:nvPr/>
        </p:nvSpPr>
        <p:spPr>
          <a:xfrm>
            <a:off x="3079289" y="5443940"/>
            <a:ext cx="829524" cy="82952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9B1C7E13-D457-1B7F-F1CD-F34EA08E6F9D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1DDD56B7-8391-EF62-E033-6E036BD79D7D}"/>
              </a:ext>
            </a:extLst>
          </p:cNvPr>
          <p:cNvSpPr txBox="1"/>
          <p:nvPr/>
        </p:nvSpPr>
        <p:spPr>
          <a:xfrm>
            <a:off x="4797486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2026 1Q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18E61766-8621-9612-3BC6-B7F7FC20419A}"/>
              </a:ext>
            </a:extLst>
          </p:cNvPr>
          <p:cNvGrpSpPr/>
          <p:nvPr/>
        </p:nvGrpSpPr>
        <p:grpSpPr>
          <a:xfrm>
            <a:off x="4647156" y="2527791"/>
            <a:ext cx="2091340" cy="2646286"/>
            <a:chOff x="3017861" y="4222351"/>
            <a:chExt cx="1917633" cy="2646286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A734D83A-ED8D-E767-00FE-D01EAD2653E6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Project Diving </a:t>
              </a:r>
              <a:r>
                <a:rPr lang="ko-KR" altLang="en-US" sz="800" b="1">
                  <a:cs typeface="Arial" pitchFamily="34" charset="0"/>
                </a:rPr>
                <a:t>결과 고도화 및 논문화</a:t>
              </a:r>
              <a:endParaRPr lang="en-US" altLang="ko-KR" sz="800" b="1">
                <a:cs typeface="Arial" pitchFamily="34" charset="0"/>
              </a:endParaRPr>
            </a:p>
            <a:p>
              <a:pPr marL="228600" indent="-228600" algn="ctr">
                <a:buAutoNum type="arabicParenBoth"/>
              </a:pPr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본인 진로 기반 출시 예상 공모전 미리 분석 및 고도화</a:t>
              </a:r>
              <a:endParaRPr lang="en-US" altLang="ko-KR" sz="800" b="1">
                <a:cs typeface="Arial" pitchFamily="34" charset="0"/>
              </a:endParaRPr>
            </a:p>
            <a:p>
              <a:pPr marL="228600" indent="-228600" algn="ctr">
                <a:buAutoNum type="arabicParenBoth"/>
              </a:pPr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본인 진로 기반 논문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특허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창업 제안을 위한 분석 및 고도화 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(4)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D01706C5-6A05-600B-DDF9-899DA3D9CFB8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3" name="타원 712">
            <a:extLst>
              <a:ext uri="{FF2B5EF4-FFF2-40B4-BE49-F238E27FC236}">
                <a16:creationId xmlns:a16="http://schemas.microsoft.com/office/drawing/2014/main" id="{0F3A81DB-4321-5266-6868-CE03F3340978}"/>
              </a:ext>
            </a:extLst>
          </p:cNvPr>
          <p:cNvSpPr/>
          <p:nvPr/>
        </p:nvSpPr>
        <p:spPr>
          <a:xfrm>
            <a:off x="5278063" y="5443940"/>
            <a:ext cx="829524" cy="82952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4" name="Rectangle 36">
            <a:extLst>
              <a:ext uri="{FF2B5EF4-FFF2-40B4-BE49-F238E27FC236}">
                <a16:creationId xmlns:a16="http://schemas.microsoft.com/office/drawing/2014/main" id="{F68546E3-6B24-2499-6C00-2DF4365ECE5C}"/>
              </a:ext>
            </a:extLst>
          </p:cNvPr>
          <p:cNvSpPr/>
          <p:nvPr/>
        </p:nvSpPr>
        <p:spPr>
          <a:xfrm>
            <a:off x="5499323" y="5694305"/>
            <a:ext cx="387004" cy="32350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ECFBE4F0-EC3E-6F16-F64F-43BD023AE1D0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83739127-94D2-22D2-9106-03E61D838B83}"/>
              </a:ext>
            </a:extLst>
          </p:cNvPr>
          <p:cNvSpPr txBox="1"/>
          <p:nvPr/>
        </p:nvSpPr>
        <p:spPr>
          <a:xfrm>
            <a:off x="7014592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2026 2Q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0556E8C5-CB30-F4EA-B207-DECF24D2D35C}"/>
              </a:ext>
            </a:extLst>
          </p:cNvPr>
          <p:cNvGrpSpPr/>
          <p:nvPr/>
        </p:nvGrpSpPr>
        <p:grpSpPr>
          <a:xfrm>
            <a:off x="6864262" y="2527791"/>
            <a:ext cx="2091340" cy="2153844"/>
            <a:chOff x="3017861" y="4222351"/>
            <a:chExt cx="1917633" cy="215384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AAA93F93-8A5A-48A1-F155-39AD2576141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 </a:t>
              </a:r>
              <a:r>
                <a:rPr lang="en-US" altLang="ko-KR" sz="800" b="1" u="sng">
                  <a:cs typeface="Arial" pitchFamily="34" charset="0"/>
                </a:rPr>
                <a:t>&amp; </a:t>
              </a:r>
              <a:r>
                <a:rPr lang="ko-KR" altLang="en-US" sz="800" b="1" u="sng">
                  <a:cs typeface="Arial" pitchFamily="34" charset="0"/>
                </a:rPr>
                <a:t>인공지능의사결정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증명을 위해 집중</a:t>
              </a:r>
              <a:r>
                <a:rPr lang="en-US" altLang="ko-KR" sz="800" b="1">
                  <a:cs typeface="Arial" pitchFamily="34" charset="0"/>
                </a:rPr>
                <a:t>!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본인 진로 기반 공모전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논문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특허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창업 산출물 완성 및 추가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DB473F7B-2171-1E9B-957A-64A6E5ABCC35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sp>
        <p:nvSpPr>
          <p:cNvPr id="721" name="타원 720">
            <a:extLst>
              <a:ext uri="{FF2B5EF4-FFF2-40B4-BE49-F238E27FC236}">
                <a16:creationId xmlns:a16="http://schemas.microsoft.com/office/drawing/2014/main" id="{CCA116E3-0D72-9842-C3A3-7C040FA06FE9}"/>
              </a:ext>
            </a:extLst>
          </p:cNvPr>
          <p:cNvSpPr/>
          <p:nvPr/>
        </p:nvSpPr>
        <p:spPr>
          <a:xfrm>
            <a:off x="7495169" y="5443940"/>
            <a:ext cx="829524" cy="829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6" name="Rounded Rectangle 32">
            <a:extLst>
              <a:ext uri="{FF2B5EF4-FFF2-40B4-BE49-F238E27FC236}">
                <a16:creationId xmlns:a16="http://schemas.microsoft.com/office/drawing/2014/main" id="{7E2E2D30-A1EC-4135-3C0D-2755EF23EB64}"/>
              </a:ext>
            </a:extLst>
          </p:cNvPr>
          <p:cNvSpPr/>
          <p:nvPr/>
        </p:nvSpPr>
        <p:spPr>
          <a:xfrm>
            <a:off x="3327546" y="5694305"/>
            <a:ext cx="333009" cy="33300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27" name="Rectangle 9">
            <a:extLst>
              <a:ext uri="{FF2B5EF4-FFF2-40B4-BE49-F238E27FC236}">
                <a16:creationId xmlns:a16="http://schemas.microsoft.com/office/drawing/2014/main" id="{5517A6E2-2DA2-583B-9F6D-1B2704133DA2}"/>
              </a:ext>
            </a:extLst>
          </p:cNvPr>
          <p:cNvSpPr/>
          <p:nvPr/>
        </p:nvSpPr>
        <p:spPr>
          <a:xfrm>
            <a:off x="1106918" y="5694305"/>
            <a:ext cx="340053" cy="31832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28" name="Round Same Side Corner Rectangle 11">
            <a:extLst>
              <a:ext uri="{FF2B5EF4-FFF2-40B4-BE49-F238E27FC236}">
                <a16:creationId xmlns:a16="http://schemas.microsoft.com/office/drawing/2014/main" id="{843C49A9-6996-87E2-26FD-53BB37E7878E}"/>
              </a:ext>
            </a:extLst>
          </p:cNvPr>
          <p:cNvSpPr>
            <a:spLocks noChangeAspect="1"/>
          </p:cNvSpPr>
          <p:nvPr/>
        </p:nvSpPr>
        <p:spPr>
          <a:xfrm rot="9900000">
            <a:off x="7731820" y="5709536"/>
            <a:ext cx="356223" cy="30254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640C335D-6A97-088E-7E3C-62F0D4FAB249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49FFEE26-86A3-F106-6980-99078C0877D7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4D49FC0B-0E1B-4114-263D-2188D170C1D0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11">
      <a:dk1>
        <a:srgbClr val="2C2D2F"/>
      </a:dk1>
      <a:lt1>
        <a:srgbClr val="FFFFFF"/>
      </a:lt1>
      <a:dk2>
        <a:srgbClr val="61626A"/>
      </a:dk2>
      <a:lt2>
        <a:srgbClr val="DEDEDE"/>
      </a:lt2>
      <a:accent1>
        <a:srgbClr val="044EA2"/>
      </a:accent1>
      <a:accent2>
        <a:srgbClr val="95BFED"/>
      </a:accent2>
      <a:accent3>
        <a:srgbClr val="424243"/>
      </a:accent3>
      <a:accent4>
        <a:srgbClr val="E1EDEE"/>
      </a:accent4>
      <a:accent5>
        <a:srgbClr val="044EA2"/>
      </a:accent5>
      <a:accent6>
        <a:srgbClr val="B3CEDD"/>
      </a:accent6>
      <a:hlink>
        <a:srgbClr val="044EA2"/>
      </a:hlink>
      <a:folHlink>
        <a:srgbClr val="0D2ECA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9668</TotalTime>
  <Words>3913</Words>
  <Application>Microsoft Office PowerPoint</Application>
  <PresentationFormat>화면 슬라이드 쇼(4:3)</PresentationFormat>
  <Paragraphs>767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Noto Sans Symbols</vt:lpstr>
      <vt:lpstr>Malgun Gothic</vt:lpstr>
      <vt:lpstr>Arial</vt:lpstr>
      <vt:lpstr>Calibri</vt:lpstr>
      <vt:lpstr>Cambria Math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사용자</dc:creator>
  <cp:lastModifiedBy>KK</cp:lastModifiedBy>
  <cp:revision>1524</cp:revision>
  <dcterms:created xsi:type="dcterms:W3CDTF">2017-08-28T02:36:56Z</dcterms:created>
  <dcterms:modified xsi:type="dcterms:W3CDTF">2026-06-26T16:25:03Z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88E2CA7DA740E51D625C323DD66B4F4206A6C78A74461D15BF48BA2B48BF78F3</vt:lpwstr>
  </property>
  <property fmtid="{D5CDD505-2E9C-101B-9397-08002B2CF9AE}" pid="2" name="NSCPROP">
    <vt:lpwstr>NSCCustomProperty</vt:lpwstr>
  </property>
  <property fmtid="{D5CDD505-2E9C-101B-9397-08002B2CF9AE}" pid="3" name="ContentTypeId">
    <vt:lpwstr>0x010100EE7FC1D07832764183E230CF748316B6</vt:lpwstr>
  </property>
  <property fmtid="{D5CDD505-2E9C-101B-9397-08002B2CF9AE}" pid="4" name="NSCPROP_SA">
    <vt:lpwstr>http://teamdocs.mosaic.sec.samsung.net/sites/COMTY_4026902/MENU_4026902_4026907/Shared%20Documents/팀관리/180411%20팀%20간담회/DI팀_간담회_180409v01.pptx</vt:lpwstr>
  </property>
</Properties>
</file>