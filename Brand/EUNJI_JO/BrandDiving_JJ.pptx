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FB34C-C07B-1936-7362-06C68944A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454A2E-FF61-D379-6419-F45CCAB71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D2B4B-60A2-9C9E-FDC5-136E65DA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831632-CC0C-0EAC-0AF0-2309A1F6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6084F-824D-728C-A7A5-36B5FFD2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51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EBBEB-D130-680E-5D1B-F500B136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A5CB72-5347-ECA2-2F2B-A061E5C33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AB0B65-77F3-17A7-C988-8C5CF573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3A890-FA6D-66C7-95B1-CC18EBFB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33EAF5-28CC-C85D-BBC7-599AA14C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3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19D55-B823-C955-6772-1429BE6D8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B13E4F-0DDB-CC87-5E66-3008A6C7E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2EB94-D11A-0488-91DA-0965CF6B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FBD35-D20C-2D93-DAA4-DB50E064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F6C179-44CA-7F05-E377-55023109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410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40F2B-E6FC-9025-D58A-8113116F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231E7C-2281-F3A4-2094-2A2D82F63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2A04E4-B200-AA16-0D8B-C78B80F5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CFB542-FEBC-26AE-E0CE-1EDD54B5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2FED0-29B9-0329-C805-8CF03BD43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5CFC52-6F0C-3D15-6605-1B9E821C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66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A85D7-9437-DF5F-72EA-61F6C83D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59F6E-E996-09FB-3E8C-8452132DA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63F15C-E45B-14E0-5430-87B69C844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DF14DC-3DF8-A9A5-7FD4-F097E6814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9095B2-50DE-195C-88C7-77E3CF3F2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E4EF661-E930-D47C-D045-6D4011E0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139EA6-6AA3-AF4E-BB83-7A53423D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997A4D-6F35-BCBD-88C9-B07CF67C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3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0243E-425E-5C46-CD1B-952A3EAE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E43F86-2BAD-523A-DB60-991CFAA6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D6E28C-681C-F8C7-978E-48715DEC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8FC634-6E86-AEB2-C597-B13FF252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6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5ABDE2-017F-7F3B-0568-295523AB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648346-569C-3F11-1713-8635F8C3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6BDB2D-968B-43DB-0DBD-0EA41C6F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965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8FC2D-AE36-A057-FB3E-07F87CF9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BB2331-DD3C-F040-7DC7-7D3908BB5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069E1-D3C2-DBE7-2C43-11D1A26AD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54ACA1-9DA0-3244-AD1D-4B09329B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7D17AB-45C8-0970-2E41-308AB045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FF3392-A113-C37F-5E89-DFC819E1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34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3B47A-9A1D-CCA1-96E5-C8793504C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6CC637-61E9-8280-D683-E88B883C9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8B7438-F20E-8772-BBB9-0043DA35A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7AAC10-D71B-6066-2283-7CA585F4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55E384-0346-9723-6280-10D3F8B4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06713F-AFB6-A593-67F7-BEC175B93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66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D9A30-4257-B273-DE98-CC774545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AFE71-2184-D404-05E0-EF8ED989C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27C777-8C58-C1FA-E81B-F18E5D50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1A496-228C-5A8A-22AF-51A20A11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6CE9FD-69FE-7CF0-3DA1-D1CBC279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88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3F41A3-5E35-7C78-4DB7-3A692C23E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5D3A53-52C3-4450-509E-B1B2EC647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CF049-EB7D-E575-FD8A-F3B52E89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161FD7-8D57-C08C-09BC-237326DB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FB173-444E-FAD1-0C85-119026BB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5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559599-DA0D-1611-E0C1-0D9F89B3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DE1CBC-1F64-7B3C-184E-3BA488B6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C95C12-8103-8B87-382F-72252197F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60F1C-DA61-4209-AD94-3AE21E3FD8C7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50AD2F-8B85-86DD-11BC-A1FD52670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A2D4F7-568A-9606-9224-0F7B5BD91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A2C43-D545-466C-AD3C-823ABC67C9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81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5F07DF-B07A-395E-FCB2-7ACC42A211AC}"/>
              </a:ext>
            </a:extLst>
          </p:cNvPr>
          <p:cNvSpPr txBox="1"/>
          <p:nvPr/>
        </p:nvSpPr>
        <p:spPr>
          <a:xfrm>
            <a:off x="482600" y="662001"/>
            <a:ext cx="420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SUIT" pitchFamily="50" charset="-127"/>
                <a:ea typeface="SUIT" pitchFamily="50" charset="-127"/>
              </a:rPr>
              <a:t>(1) 진행상황 또는 계획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AE998-55C1-F1CE-5719-DC7816D629B7}"/>
              </a:ext>
            </a:extLst>
          </p:cNvPr>
          <p:cNvSpPr txBox="1"/>
          <p:nvPr/>
        </p:nvSpPr>
        <p:spPr>
          <a:xfrm>
            <a:off x="10524066" y="6431465"/>
            <a:ext cx="180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SUIT" pitchFamily="50" charset="-127"/>
                <a:ea typeface="SUIT" pitchFamily="50" charset="-127"/>
              </a:rPr>
              <a:t>2026-07-07</a:t>
            </a:r>
            <a:endParaRPr lang="ko-KR" altLang="en-US" dirty="0">
              <a:latin typeface="SUIT" pitchFamily="50" charset="-127"/>
              <a:ea typeface="SUIT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404B3-28EB-E2C5-D999-20FFE6FC129D}"/>
              </a:ext>
            </a:extLst>
          </p:cNvPr>
          <p:cNvSpPr txBox="1"/>
          <p:nvPr/>
        </p:nvSpPr>
        <p:spPr>
          <a:xfrm>
            <a:off x="6917267" y="662001"/>
            <a:ext cx="3285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SUIT" pitchFamily="50" charset="-127"/>
                <a:ea typeface="SUIT" pitchFamily="50" charset="-127"/>
              </a:rPr>
              <a:t>(2) 논의 필요한 이슈 포함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75D78-AE46-DAC5-52C6-03A59EF3162F}"/>
              </a:ext>
            </a:extLst>
          </p:cNvPr>
          <p:cNvSpPr txBox="1"/>
          <p:nvPr/>
        </p:nvSpPr>
        <p:spPr>
          <a:xfrm>
            <a:off x="482599" y="6011333"/>
            <a:ext cx="420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SUIT" pitchFamily="50" charset="-127"/>
                <a:ea typeface="SUIT" pitchFamily="50" charset="-127"/>
              </a:rPr>
              <a:t>8</a:t>
            </a:r>
            <a:r>
              <a:rPr lang="ko-KR" altLang="en-US" dirty="0">
                <a:latin typeface="SUIT" pitchFamily="50" charset="-127"/>
                <a:ea typeface="SUIT" pitchFamily="50" charset="-127"/>
              </a:rPr>
              <a:t>월 </a:t>
            </a:r>
            <a:r>
              <a:rPr lang="en-US" altLang="ko-KR" dirty="0">
                <a:latin typeface="SUIT" pitchFamily="50" charset="-127"/>
                <a:ea typeface="SUIT" pitchFamily="50" charset="-127"/>
              </a:rPr>
              <a:t>5</a:t>
            </a:r>
            <a:r>
              <a:rPr lang="ko-KR" altLang="en-US" dirty="0">
                <a:latin typeface="SUIT" pitchFamily="50" charset="-127"/>
                <a:ea typeface="SUIT" pitchFamily="50" charset="-127"/>
              </a:rPr>
              <a:t>일 학부연구생 중간보고서 제출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3A3CE-34CA-008B-EA7D-8573DB9112B3}"/>
              </a:ext>
            </a:extLst>
          </p:cNvPr>
          <p:cNvSpPr txBox="1"/>
          <p:nvPr/>
        </p:nvSpPr>
        <p:spPr>
          <a:xfrm>
            <a:off x="482600" y="1137105"/>
            <a:ext cx="420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SUIT" pitchFamily="50" charset="-127"/>
                <a:ea typeface="SUIT" pitchFamily="50" charset="-127"/>
              </a:rPr>
              <a:t>주제 </a:t>
            </a:r>
            <a:r>
              <a:rPr lang="en-US" altLang="ko-KR" dirty="0">
                <a:latin typeface="SUIT" pitchFamily="50" charset="-127"/>
                <a:ea typeface="SUIT" pitchFamily="50" charset="-127"/>
              </a:rPr>
              <a:t>: </a:t>
            </a:r>
            <a:r>
              <a:rPr lang="ko-KR" altLang="en-US" dirty="0">
                <a:latin typeface="SUIT" pitchFamily="50" charset="-127"/>
                <a:ea typeface="SUIT" pitchFamily="50" charset="-127"/>
              </a:rPr>
              <a:t>탄소 리스크 분석 연구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E66E9-CF22-AA78-5DAE-DAD3AEEEC4A5}"/>
              </a:ext>
            </a:extLst>
          </p:cNvPr>
          <p:cNvSpPr txBox="1"/>
          <p:nvPr/>
        </p:nvSpPr>
        <p:spPr>
          <a:xfrm>
            <a:off x="508000" y="1506437"/>
            <a:ext cx="5046133" cy="1169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현재 모인 데이터 </a:t>
            </a: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: 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2015</a:t>
            </a: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년</a:t>
            </a: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~2025</a:t>
            </a: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년의 상장사 </a:t>
            </a: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620</a:t>
            </a: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개에 대한  </a:t>
            </a:r>
            <a:endParaRPr lang="en-US" altLang="ko-KR" sz="1200" dirty="0">
              <a:solidFill>
                <a:srgbClr val="000000"/>
              </a:solidFill>
              <a:latin typeface="SUIT" pitchFamily="50" charset="-127"/>
              <a:ea typeface="SUIT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기업별 직접배출량</a:t>
            </a: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(scope1), </a:t>
            </a: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간접배출량</a:t>
            </a: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(scope2,3)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및 재무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기업가치 컬럼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7157B7-482B-B0F4-8770-E4BE9AEFB142}"/>
              </a:ext>
            </a:extLst>
          </p:cNvPr>
          <p:cNvSpPr txBox="1"/>
          <p:nvPr/>
        </p:nvSpPr>
        <p:spPr>
          <a:xfrm>
            <a:off x="6917267" y="1222401"/>
            <a:ext cx="4766733" cy="3282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SUIT" pitchFamily="50" charset="-127"/>
                <a:ea typeface="SUIT" pitchFamily="50" charset="-127"/>
              </a:rPr>
              <a:t>사용 알고리즘 후보</a:t>
            </a:r>
            <a:r>
              <a:rPr lang="en-US" altLang="ko-KR" dirty="0">
                <a:latin typeface="SUIT" pitchFamily="50" charset="-127"/>
                <a:ea typeface="SUIT" pitchFamily="50" charset="-127"/>
              </a:rPr>
              <a:t>: causal forest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ko-KR" altLang="en-US" dirty="0">
                <a:latin typeface="SUIT" pitchFamily="50" charset="-127"/>
                <a:ea typeface="SUIT" pitchFamily="50" charset="-127"/>
              </a:rPr>
              <a:t>이슈 </a:t>
            </a:r>
            <a:r>
              <a:rPr lang="en-US" altLang="ko-KR" dirty="0">
                <a:latin typeface="SUIT" pitchFamily="50" charset="-127"/>
                <a:ea typeface="SUIT" pitchFamily="50" charset="-127"/>
              </a:rPr>
              <a:t>: </a:t>
            </a:r>
            <a:r>
              <a:rPr lang="ko-KR" altLang="en-US" dirty="0">
                <a:latin typeface="SUIT" pitchFamily="50" charset="-127"/>
                <a:ea typeface="SUIT" pitchFamily="50" charset="-127"/>
              </a:rPr>
              <a:t>높은 </a:t>
            </a:r>
            <a:r>
              <a:rPr lang="ko-KR" altLang="en-US" dirty="0" err="1">
                <a:latin typeface="SUIT" pitchFamily="50" charset="-127"/>
                <a:ea typeface="SUIT" pitchFamily="50" charset="-127"/>
              </a:rPr>
              <a:t>머신러닝</a:t>
            </a:r>
            <a:r>
              <a:rPr lang="ko-KR" altLang="en-US" dirty="0">
                <a:latin typeface="SUIT" pitchFamily="50" charset="-127"/>
                <a:ea typeface="SUIT" pitchFamily="50" charset="-127"/>
              </a:rPr>
              <a:t> 성능 선행되어야 함</a:t>
            </a:r>
            <a:r>
              <a:rPr lang="en-US" altLang="ko-KR" dirty="0">
                <a:latin typeface="SUIT" pitchFamily="50" charset="-127"/>
                <a:ea typeface="SUIT" pitchFamily="50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SUIT" pitchFamily="50" charset="-127"/>
                <a:ea typeface="SUIT" pitchFamily="50" charset="-127"/>
              </a:rPr>
              <a:t>우선 분류문제로 예측 모델 만들기</a:t>
            </a:r>
            <a:endParaRPr lang="en-US" altLang="ko-KR" dirty="0">
              <a:latin typeface="SUIT" pitchFamily="50" charset="-127"/>
              <a:ea typeface="SUIT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>
              <a:latin typeface="SUIT" pitchFamily="50" charset="-127"/>
              <a:ea typeface="SUIT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>
              <a:latin typeface="SUIT" pitchFamily="50" charset="-127"/>
              <a:ea typeface="SUIT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SUIT" pitchFamily="50" charset="-127"/>
                <a:ea typeface="SUIT" pitchFamily="50" charset="-127"/>
              </a:rPr>
              <a:t>문제정의 후보 </a:t>
            </a:r>
            <a:r>
              <a:rPr lang="en-US" altLang="ko-KR" dirty="0">
                <a:latin typeface="SUIT" pitchFamily="50" charset="-127"/>
                <a:ea typeface="SUIT" pitchFamily="50" charset="-127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SUIT" pitchFamily="50" charset="-127"/>
                <a:ea typeface="SUIT" pitchFamily="50" charset="-127"/>
              </a:rPr>
              <a:t>- </a:t>
            </a:r>
            <a:r>
              <a:rPr lang="ko-KR" altLang="en-US" sz="1600" dirty="0">
                <a:latin typeface="SUIT" pitchFamily="50" charset="-127"/>
                <a:ea typeface="SUIT" pitchFamily="50" charset="-127"/>
              </a:rPr>
              <a:t>탄소부채 </a:t>
            </a:r>
            <a:r>
              <a:rPr lang="en-US" altLang="ko-KR" sz="1600" dirty="0">
                <a:latin typeface="SUIT" pitchFamily="50" charset="-127"/>
                <a:ea typeface="SUIT" pitchFamily="50" charset="-127"/>
              </a:rPr>
              <a:t>(</a:t>
            </a:r>
            <a:r>
              <a:rPr lang="ko-KR" altLang="en-US" sz="1600" dirty="0">
                <a:latin typeface="SUIT" pitchFamily="50" charset="-127"/>
                <a:ea typeface="SUIT" pitchFamily="50" charset="-127"/>
              </a:rPr>
              <a:t>탄소배출량 사전할당량 </a:t>
            </a:r>
            <a:r>
              <a:rPr lang="en-US" altLang="ko-KR" sz="1600" dirty="0">
                <a:latin typeface="SUIT" pitchFamily="50" charset="-127"/>
                <a:ea typeface="SUIT" pitchFamily="50" charset="-127"/>
              </a:rPr>
              <a:t>- </a:t>
            </a:r>
            <a:r>
              <a:rPr lang="ko-KR" altLang="en-US" sz="1600" dirty="0">
                <a:latin typeface="SUIT" pitchFamily="50" charset="-127"/>
                <a:ea typeface="SUIT" pitchFamily="50" charset="-127"/>
              </a:rPr>
              <a:t>인증배출량</a:t>
            </a:r>
            <a:r>
              <a:rPr lang="en-US" altLang="ko-KR" sz="1600" dirty="0">
                <a:latin typeface="SUIT" pitchFamily="50" charset="-127"/>
                <a:ea typeface="SUIT" pitchFamily="50" charset="-127"/>
              </a:rPr>
              <a:t>)</a:t>
            </a:r>
            <a:r>
              <a:rPr lang="ko-KR" altLang="en-US" sz="1600" dirty="0">
                <a:latin typeface="SUIT" pitchFamily="50" charset="-127"/>
                <a:ea typeface="SUIT" pitchFamily="50" charset="-127"/>
              </a:rPr>
              <a:t>는 </a:t>
            </a:r>
            <a:br>
              <a:rPr lang="en-US" altLang="ko-KR" sz="1600" dirty="0">
                <a:latin typeface="SUIT" pitchFamily="50" charset="-127"/>
                <a:ea typeface="SUIT" pitchFamily="50" charset="-127"/>
              </a:rPr>
            </a:br>
            <a:r>
              <a:rPr lang="ko-KR" altLang="en-US" sz="1600" dirty="0">
                <a:latin typeface="SUIT" pitchFamily="50" charset="-127"/>
                <a:ea typeface="SUIT" pitchFamily="50" charset="-127"/>
              </a:rPr>
              <a:t>기업가치 또는 기업의 재무안정성에 영향을 미치는가</a:t>
            </a:r>
            <a:endParaRPr lang="en-US" altLang="ko-KR" sz="1600" dirty="0">
              <a:latin typeface="SUIT" pitchFamily="50" charset="-127"/>
              <a:ea typeface="SUIT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1508F-A844-95BA-9CBA-6FAB13936155}"/>
              </a:ext>
            </a:extLst>
          </p:cNvPr>
          <p:cNvSpPr txBox="1"/>
          <p:nvPr/>
        </p:nvSpPr>
        <p:spPr>
          <a:xfrm>
            <a:off x="508000" y="2789741"/>
            <a:ext cx="5427133" cy="3107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진행 작업 </a:t>
            </a:r>
            <a:r>
              <a:rPr lang="en-US" altLang="ko-KR" sz="1200" dirty="0">
                <a:solidFill>
                  <a:srgbClr val="000000"/>
                </a:solidFill>
                <a:latin typeface="SUIT" pitchFamily="50" charset="-127"/>
                <a:ea typeface="SUIT" pitchFamily="50" charset="-127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0. </a:t>
            </a:r>
            <a:r>
              <a:rPr lang="ko-KR" altLang="en-US" sz="1200" b="1" dirty="0">
                <a:latin typeface="SUIT" pitchFamily="50" charset="-127"/>
                <a:ea typeface="SUIT" pitchFamily="50" charset="-127"/>
              </a:rPr>
              <a:t>재무제표 기부금 및 사회공헌 데이터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 주석 </a:t>
            </a:r>
            <a:r>
              <a:rPr lang="ko-KR" altLang="en-US" sz="1200" dirty="0" err="1">
                <a:latin typeface="SUIT" pitchFamily="50" charset="-127"/>
                <a:ea typeface="SUIT" pitchFamily="50" charset="-127"/>
              </a:rPr>
              <a:t>전처리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 </a:t>
            </a:r>
            <a:r>
              <a:rPr lang="en-US" altLang="ko-KR" sz="1200" dirty="0" err="1">
                <a:latin typeface="SUIT" pitchFamily="50" charset="-127"/>
                <a:ea typeface="SUIT" pitchFamily="50" charset="-127"/>
              </a:rPr>
              <a:t>ing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1.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재무제표에 나타나는 </a:t>
            </a:r>
            <a:r>
              <a:rPr lang="en-US" altLang="ko-KR" sz="1200" dirty="0" err="1">
                <a:latin typeface="SUIT" pitchFamily="50" charset="-127"/>
                <a:ea typeface="SUIT" pitchFamily="50" charset="-127"/>
              </a:rPr>
              <a:t>esg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중 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social, governance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관련 데이터 수집 완료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.</a:t>
            </a:r>
            <a:br>
              <a:rPr lang="en-US" altLang="ko-KR" sz="1200" dirty="0">
                <a:latin typeface="SUIT" pitchFamily="50" charset="-127"/>
                <a:ea typeface="SUIT" pitchFamily="50" charset="-127"/>
              </a:rPr>
            </a:b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     (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종업원수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 err="1">
                <a:latin typeface="SUIT" pitchFamily="50" charset="-127"/>
                <a:ea typeface="SUIT" pitchFamily="50" charset="-127"/>
              </a:rPr>
              <a:t>평균근속월수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종업원평균급여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자본집약도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(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종업원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1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인당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2.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신용등급 데이터 수집 </a:t>
            </a:r>
            <a:r>
              <a:rPr lang="en-US" altLang="ko-KR" sz="1200" dirty="0" err="1">
                <a:latin typeface="SUIT" pitchFamily="50" charset="-127"/>
                <a:ea typeface="SUIT" pitchFamily="50" charset="-127"/>
              </a:rPr>
              <a:t>ing</a:t>
            </a:r>
            <a:endParaRPr lang="en-US" altLang="ko-KR" sz="1200" dirty="0">
              <a:latin typeface="SUIT" pitchFamily="50" charset="-127"/>
              <a:ea typeface="SUIT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     NICE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신용평가 등급변동리스트 </a:t>
            </a:r>
            <a:r>
              <a:rPr lang="en-US" altLang="ko-KR" sz="1200" dirty="0">
                <a:latin typeface="SUIT" pitchFamily="50" charset="-127"/>
                <a:ea typeface="SUIT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채권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기업신용평가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기업어음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전자단기사채</a:t>
            </a:r>
            <a:br>
              <a:rPr lang="en-US" altLang="ko-KR" sz="1200" dirty="0">
                <a:latin typeface="SUIT" pitchFamily="50" charset="-127"/>
                <a:ea typeface="SUIT" pitchFamily="50" charset="-127"/>
              </a:rPr>
            </a:b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    +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자체 </a:t>
            </a:r>
            <a:r>
              <a:rPr lang="ko-KR" altLang="en-US" sz="1200" dirty="0" err="1">
                <a:latin typeface="SUIT" pitchFamily="50" charset="-127"/>
                <a:ea typeface="SUIT" pitchFamily="50" charset="-127"/>
              </a:rPr>
              <a:t>탄소리스크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 부도확률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(DD)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등 계산 가능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3.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한국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ESG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기준원 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ESG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지표 수집 완료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4. </a:t>
            </a:r>
            <a:r>
              <a:rPr lang="ko-KR" altLang="en-US" sz="1200" b="1" dirty="0">
                <a:latin typeface="SUIT" pitchFamily="50" charset="-127"/>
                <a:ea typeface="SUIT" pitchFamily="50" charset="-127"/>
              </a:rPr>
              <a:t>탄소배출권 시장 정책 데이터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 수집 완료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     </a:t>
            </a:r>
            <a:r>
              <a:rPr lang="ko-KR" altLang="en-US" sz="1200" b="1" dirty="0" err="1">
                <a:latin typeface="SUIT" pitchFamily="50" charset="-127"/>
                <a:ea typeface="SUIT" pitchFamily="50" charset="-127"/>
              </a:rPr>
              <a:t>배출권</a:t>
            </a:r>
            <a:r>
              <a:rPr lang="ko-KR" altLang="en-US" sz="1200" b="1" dirty="0">
                <a:latin typeface="SUIT" pitchFamily="50" charset="-127"/>
                <a:ea typeface="SUIT" pitchFamily="50" charset="-127"/>
              </a:rPr>
              <a:t> 사전 할당량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추가 할당량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총수량</a:t>
            </a:r>
            <a:r>
              <a:rPr lang="en-US" altLang="ko-KR" sz="1200" dirty="0">
                <a:latin typeface="SUIT" pitchFamily="50" charset="-127"/>
                <a:ea typeface="SUIT" pitchFamily="50" charset="-127"/>
              </a:rPr>
              <a:t>, </a:t>
            </a:r>
            <a:r>
              <a:rPr lang="ko-KR" altLang="en-US" sz="1200" dirty="0">
                <a:latin typeface="SUIT" pitchFamily="50" charset="-127"/>
                <a:ea typeface="SUIT" pitchFamily="50" charset="-127"/>
              </a:rPr>
              <a:t>인증 배출량 등 </a:t>
            </a:r>
            <a:endParaRPr lang="en-US" altLang="ko-KR" sz="1200" dirty="0">
              <a:latin typeface="SUIT" pitchFamily="50" charset="-127"/>
              <a:ea typeface="SUIT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SUIT" pitchFamily="50" charset="-127"/>
                <a:ea typeface="SUIT" pitchFamily="50" charset="-127"/>
                <a:sym typeface="Wingdings" panose="05000000000000000000" pitchFamily="2" charset="2"/>
              </a:rPr>
              <a:t>      </a:t>
            </a:r>
            <a:r>
              <a:rPr lang="ko-KR" altLang="en-US" sz="1200" dirty="0">
                <a:latin typeface="SUIT" pitchFamily="50" charset="-127"/>
                <a:ea typeface="SUIT" pitchFamily="50" charset="-127"/>
                <a:sym typeface="Wingdings" panose="05000000000000000000" pitchFamily="2" charset="2"/>
              </a:rPr>
              <a:t>부족한 할당량은 곧 재무위험으로 이어짐</a:t>
            </a:r>
            <a:r>
              <a:rPr lang="en-US" altLang="ko-KR" sz="1200" dirty="0">
                <a:latin typeface="SUIT" pitchFamily="50" charset="-127"/>
                <a:ea typeface="SUIT" pitchFamily="50" charset="-127"/>
                <a:sym typeface="Wingdings" panose="05000000000000000000" pitchFamily="2" charset="2"/>
              </a:rPr>
              <a:t>. </a:t>
            </a:r>
            <a:endParaRPr lang="ko-KR" altLang="en-US" sz="1200" dirty="0">
              <a:latin typeface="SUIT" pitchFamily="50" charset="-127"/>
              <a:ea typeface="SUIT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80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206</Words>
  <Application>Microsoft Office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SUIT</vt:lpstr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조은지/경영학부</dc:creator>
  <cp:lastModifiedBy>조은지/경영학부</cp:lastModifiedBy>
  <cp:revision>3</cp:revision>
  <dcterms:created xsi:type="dcterms:W3CDTF">2026-07-06T13:03:19Z</dcterms:created>
  <dcterms:modified xsi:type="dcterms:W3CDTF">2026-07-07T01:33:22Z</dcterms:modified>
</cp:coreProperties>
</file>